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7620000" cx="13004800"/>
  <p:notesSz cx="13004800" cy="7620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76">
          <p15:clr>
            <a:srgbClr val="A4A3A4"/>
          </p15:clr>
        </p15:guide>
        <p15:guide id="2" pos="2123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rat3MVededxAsLxyB/0wmM6qU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0E2F5D-FF89-478C-A757-3EDE5F239F19}">
  <a:tblStyle styleId="{1D0E2F5D-FF89-478C-A757-3EDE5F239F1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76" orient="horz"/>
        <p:guide pos="212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customschemas.google.com/relationships/presentationmetadata" Target="meta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635625" cy="382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7366000" y="0"/>
            <a:ext cx="5635625" cy="382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308475" y="952500"/>
            <a:ext cx="438785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00163" y="3667125"/>
            <a:ext cx="10404475" cy="300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7237413"/>
            <a:ext cx="5635625" cy="3825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7366000" y="7237413"/>
            <a:ext cx="5635625" cy="3825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86d34842df_0_16:notes"/>
          <p:cNvSpPr/>
          <p:nvPr>
            <p:ph idx="2" type="sldImg"/>
          </p:nvPr>
        </p:nvSpPr>
        <p:spPr>
          <a:xfrm>
            <a:off x="4308475" y="952500"/>
            <a:ext cx="438785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186d34842df_0_16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1" name="Google Shape;91;g186d34842df_0_16:notes"/>
          <p:cNvSpPr txBox="1"/>
          <p:nvPr>
            <p:ph idx="12" type="sldNum"/>
          </p:nvPr>
        </p:nvSpPr>
        <p:spPr>
          <a:xfrm>
            <a:off x="7366000" y="7237413"/>
            <a:ext cx="5635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>
                <a:latin typeface="Avenir"/>
                <a:ea typeface="Avenir"/>
                <a:cs typeface="Avenir"/>
                <a:sym typeface="Avenir"/>
              </a:rPr>
              <a:t>‹#›</a:t>
            </a:fld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3e7571da9_0_7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73e7571da9_0_7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g373e7571da9_0_7:notes"/>
          <p:cNvSpPr txBox="1"/>
          <p:nvPr>
            <p:ph idx="12" type="sldNum"/>
          </p:nvPr>
        </p:nvSpPr>
        <p:spPr>
          <a:xfrm>
            <a:off x="7366000" y="7237413"/>
            <a:ext cx="5635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 txBox="1"/>
          <p:nvPr>
            <p:ph idx="1" type="body"/>
          </p:nvPr>
        </p:nvSpPr>
        <p:spPr>
          <a:xfrm>
            <a:off x="1300163" y="3667125"/>
            <a:ext cx="10404475" cy="300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4308475" y="952500"/>
            <a:ext cx="438785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2568f74d7_0_0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0" name="Google Shape;120;g372568f74d7_0_0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8da7f9a09_0_3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8da7f9a09_0_3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78da7f9a09_0_3:notes"/>
          <p:cNvSpPr txBox="1"/>
          <p:nvPr>
            <p:ph idx="12" type="sldNum"/>
          </p:nvPr>
        </p:nvSpPr>
        <p:spPr>
          <a:xfrm>
            <a:off x="7366000" y="7237413"/>
            <a:ext cx="5635500" cy="382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356eecaf6_0_0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g37356eecaf6_0_0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372c4c07f_0_0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5" name="Google Shape;155;g37372c4c07f_0_0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4de3b0d0a_0_0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9" name="Google Shape;169;g374de3b0d0a_0_0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372c4c07f_0_57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7372c4c07f_0_57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7372c4c07f_0_57:notes"/>
          <p:cNvSpPr txBox="1"/>
          <p:nvPr>
            <p:ph idx="12" type="sldNum"/>
          </p:nvPr>
        </p:nvSpPr>
        <p:spPr>
          <a:xfrm>
            <a:off x="7366000" y="7237413"/>
            <a:ext cx="5635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372c4c07f_0_75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7372c4c07f_0_75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2568f74d7_0_330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3" name="Google Shape;233;g372568f74d7_0_330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2568f74d7_0_346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4" name="Google Shape;254;g372568f74d7_0_346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2568f74d7_0_373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2" name="Google Shape;272;g372568f74d7_0_373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74de3b0d0a_0_65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74de3b0d0a_0_65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74de3b0d0a_0_65:notes"/>
          <p:cNvSpPr txBox="1"/>
          <p:nvPr>
            <p:ph idx="12" type="sldNum"/>
          </p:nvPr>
        </p:nvSpPr>
        <p:spPr>
          <a:xfrm>
            <a:off x="7366000" y="7237413"/>
            <a:ext cx="5635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4de3b0d0a_0_140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9" name="Google Shape;329;g374de3b0d0a_0_140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74de3b0d0a_0_192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74de3b0d0a_0_192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72568f74d7_0_272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55" name="Google Shape;355;g372568f74d7_0_272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9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1" name="Google Shape;371;p9:notes"/>
          <p:cNvSpPr/>
          <p:nvPr>
            <p:ph idx="2" type="sldImg"/>
          </p:nvPr>
        </p:nvSpPr>
        <p:spPr>
          <a:xfrm>
            <a:off x="4308475" y="952500"/>
            <a:ext cx="438785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1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9" name="Google Shape;379;p21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71ae4fcaaf_0_201:notes"/>
          <p:cNvSpPr/>
          <p:nvPr>
            <p:ph idx="2" type="sldImg"/>
          </p:nvPr>
        </p:nvSpPr>
        <p:spPr>
          <a:xfrm>
            <a:off x="4308475" y="952500"/>
            <a:ext cx="43878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271ae4fcaaf_0_201:notes"/>
          <p:cNvSpPr txBox="1"/>
          <p:nvPr>
            <p:ph idx="1" type="body"/>
          </p:nvPr>
        </p:nvSpPr>
        <p:spPr>
          <a:xfrm>
            <a:off x="1300163" y="3667125"/>
            <a:ext cx="104046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6" name="Google Shape;386;g271ae4fcaaf_0_201:notes"/>
          <p:cNvSpPr txBox="1"/>
          <p:nvPr>
            <p:ph idx="12" type="sldNum"/>
          </p:nvPr>
        </p:nvSpPr>
        <p:spPr>
          <a:xfrm>
            <a:off x="7366000" y="7237413"/>
            <a:ext cx="5635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>
                <a:latin typeface="Avenir"/>
                <a:ea typeface="Avenir"/>
                <a:cs typeface="Avenir"/>
                <a:sym typeface="Avenir"/>
              </a:rPr>
              <a:t>‹#›</a:t>
            </a:fld>
            <a:endParaRPr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2:notes"/>
          <p:cNvSpPr txBox="1"/>
          <p:nvPr>
            <p:ph idx="1" type="body"/>
          </p:nvPr>
        </p:nvSpPr>
        <p:spPr>
          <a:xfrm>
            <a:off x="1300163" y="3667125"/>
            <a:ext cx="10404475" cy="300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18" name="Google Shape;418;p12:notes"/>
          <p:cNvSpPr/>
          <p:nvPr>
            <p:ph idx="2" type="sldImg"/>
          </p:nvPr>
        </p:nvSpPr>
        <p:spPr>
          <a:xfrm>
            <a:off x="4308475" y="952500"/>
            <a:ext cx="438785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title"/>
          </p:nvPr>
        </p:nvSpPr>
        <p:spPr>
          <a:xfrm>
            <a:off x="2607538" y="3112808"/>
            <a:ext cx="7789722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421632" y="7086600"/>
            <a:ext cx="41615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650240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9363456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24" name="Google Shape;24;p14"/>
          <p:cNvSpPr/>
          <p:nvPr/>
        </p:nvSpPr>
        <p:spPr>
          <a:xfrm>
            <a:off x="0" y="0"/>
            <a:ext cx="13004800" cy="7620000"/>
          </a:xfrm>
          <a:prstGeom prst="frame">
            <a:avLst>
              <a:gd fmla="val 1188" name="adj1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4"/>
          <p:cNvSpPr txBox="1"/>
          <p:nvPr/>
        </p:nvSpPr>
        <p:spPr>
          <a:xfrm>
            <a:off x="10178600" y="7001900"/>
            <a:ext cx="207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www.culebro.global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400">
          <p15:clr>
            <a:srgbClr val="FBAE40"/>
          </p15:clr>
        </p15:guide>
        <p15:guide id="2" pos="409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4421632" y="7086600"/>
            <a:ext cx="41615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650240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9363456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400">
          <p15:clr>
            <a:srgbClr val="FBAE40"/>
          </p15:clr>
        </p15:guide>
        <p15:guide id="2" pos="40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/>
          <p:nvPr>
            <p:ph type="title"/>
          </p:nvPr>
        </p:nvSpPr>
        <p:spPr>
          <a:xfrm>
            <a:off x="2607538" y="3112808"/>
            <a:ext cx="7789722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" type="body"/>
          </p:nvPr>
        </p:nvSpPr>
        <p:spPr>
          <a:xfrm>
            <a:off x="650240" y="1752600"/>
            <a:ext cx="117043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1" type="ftr"/>
          </p:nvPr>
        </p:nvSpPr>
        <p:spPr>
          <a:xfrm>
            <a:off x="4421632" y="7086600"/>
            <a:ext cx="41615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9363456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ctrTitle"/>
          </p:nvPr>
        </p:nvSpPr>
        <p:spPr>
          <a:xfrm>
            <a:off x="975360" y="2362200"/>
            <a:ext cx="1105408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" type="subTitle"/>
          </p:nvPr>
        </p:nvSpPr>
        <p:spPr>
          <a:xfrm>
            <a:off x="1950720" y="4267200"/>
            <a:ext cx="9103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421632" y="7086600"/>
            <a:ext cx="41615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0" type="dt"/>
          </p:nvPr>
        </p:nvSpPr>
        <p:spPr>
          <a:xfrm>
            <a:off x="650240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9363456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type="title"/>
          </p:nvPr>
        </p:nvSpPr>
        <p:spPr>
          <a:xfrm>
            <a:off x="2607538" y="3112808"/>
            <a:ext cx="7789722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" type="body"/>
          </p:nvPr>
        </p:nvSpPr>
        <p:spPr>
          <a:xfrm>
            <a:off x="650240" y="1752600"/>
            <a:ext cx="56570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2" type="body"/>
          </p:nvPr>
        </p:nvSpPr>
        <p:spPr>
          <a:xfrm>
            <a:off x="6697472" y="1752600"/>
            <a:ext cx="56570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1" type="ftr"/>
          </p:nvPr>
        </p:nvSpPr>
        <p:spPr>
          <a:xfrm>
            <a:off x="4421632" y="7086600"/>
            <a:ext cx="41615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650240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9363456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8"/>
          <p:cNvSpPr txBox="1"/>
          <p:nvPr>
            <p:ph idx="11" type="ftr"/>
          </p:nvPr>
        </p:nvSpPr>
        <p:spPr>
          <a:xfrm>
            <a:off x="4421632" y="7086600"/>
            <a:ext cx="41615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0" type="dt"/>
          </p:nvPr>
        </p:nvSpPr>
        <p:spPr>
          <a:xfrm>
            <a:off x="650240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/>
          <p:nvPr/>
        </p:nvSpPr>
        <p:spPr>
          <a:xfrm>
            <a:off x="0" y="0"/>
            <a:ext cx="13004800" cy="7620000"/>
          </a:xfrm>
          <a:prstGeom prst="frame">
            <a:avLst>
              <a:gd fmla="val 1188" name="adj1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green text with green arrow&#10;&#10;Description automatically generated" id="61" name="Google Shape;61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42" y="6700079"/>
            <a:ext cx="1905209" cy="832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400">
          <p15:clr>
            <a:srgbClr val="FBAE40"/>
          </p15:clr>
        </p15:guide>
        <p15:guide id="2" pos="409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9"/>
          <p:cNvSpPr txBox="1"/>
          <p:nvPr>
            <p:ph type="title"/>
          </p:nvPr>
        </p:nvSpPr>
        <p:spPr>
          <a:xfrm>
            <a:off x="2607538" y="3112808"/>
            <a:ext cx="7789722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1" type="ftr"/>
          </p:nvPr>
        </p:nvSpPr>
        <p:spPr>
          <a:xfrm>
            <a:off x="4421632" y="7086600"/>
            <a:ext cx="41615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650240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2" type="sldNum"/>
          </p:nvPr>
        </p:nvSpPr>
        <p:spPr>
          <a:xfrm>
            <a:off x="9363456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pic>
        <p:nvPicPr>
          <p:cNvPr descr="A blue and green text with green arrow&#10;&#10;Description automatically generated" id="67" name="Google Shape;67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42" y="6700079"/>
            <a:ext cx="1905209" cy="83257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9"/>
          <p:cNvSpPr txBox="1"/>
          <p:nvPr/>
        </p:nvSpPr>
        <p:spPr>
          <a:xfrm>
            <a:off x="10807375" y="7095100"/>
            <a:ext cx="2079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www.culebro.global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400">
          <p15:clr>
            <a:srgbClr val="FBAE40"/>
          </p15:clr>
        </p15:guide>
        <p15:guide id="2" pos="409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0"/>
          <p:cNvSpPr txBox="1"/>
          <p:nvPr>
            <p:ph type="ctrTitle"/>
          </p:nvPr>
        </p:nvSpPr>
        <p:spPr>
          <a:xfrm>
            <a:off x="975360" y="2362200"/>
            <a:ext cx="1105408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" type="subTitle"/>
          </p:nvPr>
        </p:nvSpPr>
        <p:spPr>
          <a:xfrm>
            <a:off x="1950720" y="4267200"/>
            <a:ext cx="9103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4421632" y="7086600"/>
            <a:ext cx="41615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0" type="dt"/>
          </p:nvPr>
        </p:nvSpPr>
        <p:spPr>
          <a:xfrm>
            <a:off x="650240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12" type="sldNum"/>
          </p:nvPr>
        </p:nvSpPr>
        <p:spPr>
          <a:xfrm>
            <a:off x="9363456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1"/>
          <p:cNvSpPr txBox="1"/>
          <p:nvPr>
            <p:ph type="title"/>
          </p:nvPr>
        </p:nvSpPr>
        <p:spPr>
          <a:xfrm>
            <a:off x="2607538" y="3112808"/>
            <a:ext cx="7789722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" type="body"/>
          </p:nvPr>
        </p:nvSpPr>
        <p:spPr>
          <a:xfrm>
            <a:off x="650240" y="1752600"/>
            <a:ext cx="117043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4421632" y="7086600"/>
            <a:ext cx="41615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0" type="dt"/>
          </p:nvPr>
        </p:nvSpPr>
        <p:spPr>
          <a:xfrm>
            <a:off x="650240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1"/>
          <p:cNvSpPr txBox="1"/>
          <p:nvPr>
            <p:ph idx="12" type="sldNum"/>
          </p:nvPr>
        </p:nvSpPr>
        <p:spPr>
          <a:xfrm>
            <a:off x="9363456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2"/>
          <p:cNvSpPr txBox="1"/>
          <p:nvPr>
            <p:ph type="title"/>
          </p:nvPr>
        </p:nvSpPr>
        <p:spPr>
          <a:xfrm>
            <a:off x="2607538" y="3112808"/>
            <a:ext cx="7789722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" type="body"/>
          </p:nvPr>
        </p:nvSpPr>
        <p:spPr>
          <a:xfrm>
            <a:off x="650240" y="1752600"/>
            <a:ext cx="56570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2"/>
          <p:cNvSpPr txBox="1"/>
          <p:nvPr>
            <p:ph idx="2" type="body"/>
          </p:nvPr>
        </p:nvSpPr>
        <p:spPr>
          <a:xfrm>
            <a:off x="6697472" y="1752600"/>
            <a:ext cx="56570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2"/>
          <p:cNvSpPr txBox="1"/>
          <p:nvPr>
            <p:ph idx="11" type="ftr"/>
          </p:nvPr>
        </p:nvSpPr>
        <p:spPr>
          <a:xfrm>
            <a:off x="4421632" y="7086600"/>
            <a:ext cx="41615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2"/>
          <p:cNvSpPr txBox="1"/>
          <p:nvPr>
            <p:ph idx="10" type="dt"/>
          </p:nvPr>
        </p:nvSpPr>
        <p:spPr>
          <a:xfrm>
            <a:off x="650240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2"/>
          <p:cNvSpPr txBox="1"/>
          <p:nvPr>
            <p:ph idx="12" type="sldNum"/>
          </p:nvPr>
        </p:nvSpPr>
        <p:spPr>
          <a:xfrm>
            <a:off x="9363456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2607538" y="3112808"/>
            <a:ext cx="7789722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650240" y="1752600"/>
            <a:ext cx="117043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1" type="ftr"/>
          </p:nvPr>
        </p:nvSpPr>
        <p:spPr>
          <a:xfrm>
            <a:off x="4421632" y="7086600"/>
            <a:ext cx="41615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0" type="dt"/>
          </p:nvPr>
        </p:nvSpPr>
        <p:spPr>
          <a:xfrm>
            <a:off x="650240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9363456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pic>
        <p:nvPicPr>
          <p:cNvPr descr="A blue and green text with green arrow&#10;&#10;Description automatically generated" id="15" name="Google Shape;1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342" y="6700079"/>
            <a:ext cx="1905212" cy="83257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3"/>
          <p:cNvSpPr/>
          <p:nvPr/>
        </p:nvSpPr>
        <p:spPr>
          <a:xfrm>
            <a:off x="0" y="0"/>
            <a:ext cx="13004800" cy="7620000"/>
          </a:xfrm>
          <a:prstGeom prst="frame">
            <a:avLst>
              <a:gd fmla="val 1188" name="adj1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3"/>
          <p:cNvSpPr txBox="1"/>
          <p:nvPr/>
        </p:nvSpPr>
        <p:spPr>
          <a:xfrm>
            <a:off x="10178600" y="7001900"/>
            <a:ext cx="207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www.culebro.global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3"/>
          <p:cNvSpPr txBox="1"/>
          <p:nvPr/>
        </p:nvSpPr>
        <p:spPr>
          <a:xfrm>
            <a:off x="11237300" y="155200"/>
            <a:ext cx="1601100" cy="116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latin typeface="Calibri"/>
                <a:ea typeface="Calibri"/>
                <a:cs typeface="Calibri"/>
                <a:sym typeface="Calibri"/>
              </a:rPr>
              <a:t>LOGO DE LA EMPRESA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7"/>
          <p:cNvSpPr txBox="1"/>
          <p:nvPr>
            <p:ph type="title"/>
          </p:nvPr>
        </p:nvSpPr>
        <p:spPr>
          <a:xfrm>
            <a:off x="2607538" y="3112808"/>
            <a:ext cx="7789722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37"/>
          <p:cNvSpPr txBox="1"/>
          <p:nvPr>
            <p:ph idx="1" type="body"/>
          </p:nvPr>
        </p:nvSpPr>
        <p:spPr>
          <a:xfrm>
            <a:off x="650240" y="1752600"/>
            <a:ext cx="117043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37"/>
          <p:cNvSpPr txBox="1"/>
          <p:nvPr>
            <p:ph idx="11" type="ftr"/>
          </p:nvPr>
        </p:nvSpPr>
        <p:spPr>
          <a:xfrm>
            <a:off x="4421632" y="7086600"/>
            <a:ext cx="41615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37"/>
          <p:cNvSpPr txBox="1"/>
          <p:nvPr>
            <p:ph idx="10" type="dt"/>
          </p:nvPr>
        </p:nvSpPr>
        <p:spPr>
          <a:xfrm>
            <a:off x="650240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9363456" y="7086600"/>
            <a:ext cx="29911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54" name="Google Shape;54;p37"/>
          <p:cNvSpPr/>
          <p:nvPr/>
        </p:nvSpPr>
        <p:spPr>
          <a:xfrm>
            <a:off x="0" y="0"/>
            <a:ext cx="13004800" cy="7620000"/>
          </a:xfrm>
          <a:prstGeom prst="frame">
            <a:avLst>
              <a:gd fmla="val 1188" name="adj1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7"/>
          <p:cNvSpPr txBox="1"/>
          <p:nvPr/>
        </p:nvSpPr>
        <p:spPr>
          <a:xfrm>
            <a:off x="10807375" y="7095100"/>
            <a:ext cx="2079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www.culebro.global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7"/>
          <p:cNvSpPr txBox="1"/>
          <p:nvPr/>
        </p:nvSpPr>
        <p:spPr>
          <a:xfrm>
            <a:off x="11237300" y="155200"/>
            <a:ext cx="1601100" cy="116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latin typeface="Calibri"/>
                <a:ea typeface="Calibri"/>
                <a:cs typeface="Calibri"/>
                <a:sym typeface="Calibri"/>
              </a:rPr>
              <a:t>LOGO DE LA EMPRESA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38.png"/><Relationship Id="rId8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9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10" Type="http://schemas.openxmlformats.org/officeDocument/2006/relationships/image" Target="../media/image33.png"/><Relationship Id="rId9" Type="http://schemas.openxmlformats.org/officeDocument/2006/relationships/image" Target="../media/image35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10" Type="http://schemas.openxmlformats.org/officeDocument/2006/relationships/image" Target="../media/image33.png"/><Relationship Id="rId9" Type="http://schemas.openxmlformats.org/officeDocument/2006/relationships/image" Target="../media/image35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36.png"/><Relationship Id="rId8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11" Type="http://schemas.openxmlformats.org/officeDocument/2006/relationships/image" Target="../media/image33.png"/><Relationship Id="rId10" Type="http://schemas.openxmlformats.org/officeDocument/2006/relationships/image" Target="../media/image35.png"/><Relationship Id="rId9" Type="http://schemas.openxmlformats.org/officeDocument/2006/relationships/image" Target="../media/image2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34.png"/><Relationship Id="rId8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40.png"/><Relationship Id="rId8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6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6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6.png"/><Relationship Id="rId4" Type="http://schemas.openxmlformats.org/officeDocument/2006/relationships/image" Target="../media/image26.png"/><Relationship Id="rId5" Type="http://schemas.openxmlformats.org/officeDocument/2006/relationships/image" Target="../media/image5.png"/><Relationship Id="rId6" Type="http://schemas.openxmlformats.org/officeDocument/2006/relationships/image" Target="../media/image16.png"/><Relationship Id="rId7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3.png"/><Relationship Id="rId4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7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186d34842df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3004800" cy="7619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green text with green arrow&#10;&#10;Description automatically generated" id="94" name="Google Shape;94;g186d34842df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9803" y="5728648"/>
            <a:ext cx="3726400" cy="16284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186d34842df_0_16"/>
          <p:cNvSpPr/>
          <p:nvPr/>
        </p:nvSpPr>
        <p:spPr>
          <a:xfrm>
            <a:off x="0" y="0"/>
            <a:ext cx="13004800" cy="7620000"/>
          </a:xfrm>
          <a:prstGeom prst="frame">
            <a:avLst>
              <a:gd fmla="val 1188" name="adj1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86d34842df_0_16"/>
          <p:cNvSpPr txBox="1"/>
          <p:nvPr/>
        </p:nvSpPr>
        <p:spPr>
          <a:xfrm>
            <a:off x="357050" y="4747800"/>
            <a:ext cx="5985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38290" rtl="0" algn="ctr">
              <a:lnSpc>
                <a:spcPct val="9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MX" sz="2500">
                <a:latin typeface="Avenir"/>
                <a:ea typeface="Avenir"/>
                <a:cs typeface="Avenir"/>
                <a:sym typeface="Avenir"/>
              </a:rPr>
              <a:t>NOMBRE A QUIEN SE PRESENTARÁ LA PROPUESTA</a:t>
            </a:r>
            <a:endParaRPr b="1" i="0" sz="25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g186d34842df_0_16"/>
          <p:cNvSpPr txBox="1"/>
          <p:nvPr/>
        </p:nvSpPr>
        <p:spPr>
          <a:xfrm>
            <a:off x="196325" y="4102996"/>
            <a:ext cx="5986033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2000" u="none" cap="none" strike="noStrike">
                <a:solidFill>
                  <a:srgbClr val="A5A5A5"/>
                </a:solidFill>
                <a:latin typeface="Avenir"/>
                <a:ea typeface="Avenir"/>
                <a:cs typeface="Avenir"/>
                <a:sym typeface="Avenir"/>
              </a:rPr>
              <a:t>PROYECTO DISEÑADO ESPECIALMENTE PARA:</a:t>
            </a:r>
            <a:endParaRPr b="1" i="0" sz="2000" u="none" cap="none" strike="noStrike">
              <a:solidFill>
                <a:srgbClr val="A5A5A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8" name="Google Shape;98;g186d34842df_0_16"/>
          <p:cNvSpPr txBox="1"/>
          <p:nvPr/>
        </p:nvSpPr>
        <p:spPr>
          <a:xfrm>
            <a:off x="10178600" y="7001900"/>
            <a:ext cx="2075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www.culebro.global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186d34842df_0_16"/>
          <p:cNvSpPr txBox="1"/>
          <p:nvPr/>
        </p:nvSpPr>
        <p:spPr>
          <a:xfrm>
            <a:off x="1575325" y="1655100"/>
            <a:ext cx="3228000" cy="215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3200">
                <a:latin typeface="Calibri"/>
                <a:ea typeface="Calibri"/>
                <a:cs typeface="Calibri"/>
                <a:sym typeface="Calibri"/>
              </a:rPr>
              <a:t>LOGO DE LA EMPRESA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3e7571da9_0_7"/>
          <p:cNvSpPr txBox="1"/>
          <p:nvPr/>
        </p:nvSpPr>
        <p:spPr>
          <a:xfrm>
            <a:off x="317300" y="444225"/>
            <a:ext cx="7909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3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SITUACIÓN ACTUAL</a:t>
            </a:r>
            <a:endParaRPr b="1" i="0" sz="3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6" name="Google Shape;106;g373e7571da9_0_7"/>
          <p:cNvSpPr txBox="1"/>
          <p:nvPr/>
        </p:nvSpPr>
        <p:spPr>
          <a:xfrm>
            <a:off x="317300" y="1213725"/>
            <a:ext cx="7909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Breve descripción de la situación actual del prospecto</a:t>
            </a:r>
            <a:r>
              <a:rPr b="0" i="0" lang="es-MX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g373e7571da9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6572" y="1569050"/>
            <a:ext cx="3548228" cy="4041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73e7571da9_0_7"/>
          <p:cNvSpPr txBox="1"/>
          <p:nvPr/>
        </p:nvSpPr>
        <p:spPr>
          <a:xfrm>
            <a:off x="697525" y="243470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una propuesta rápida y ligera, seguimiento a 8 personas, planeación mensual, 2 days, ya han trabajado con ellos, le entendí la empresa se llama AIR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/>
        </p:nvSpPr>
        <p:spPr>
          <a:xfrm>
            <a:off x="777175" y="847825"/>
            <a:ext cx="64590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marR="0" rtl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OBJETIVO GENERAL</a:t>
            </a:r>
            <a:endParaRPr b="1" i="0" sz="40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4" name="Google Shape;114;p11"/>
          <p:cNvSpPr txBox="1"/>
          <p:nvPr/>
        </p:nvSpPr>
        <p:spPr>
          <a:xfrm>
            <a:off x="777175" y="2212625"/>
            <a:ext cx="64590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Anotar nuestro objetivo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3750" y="213500"/>
            <a:ext cx="1833300" cy="104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97701" y="847825"/>
            <a:ext cx="3388500" cy="572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863" y="6819888"/>
            <a:ext cx="2409825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372568f74d7_0_0" title="Plantillas para propuestas (7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512" y="470575"/>
            <a:ext cx="11131776" cy="707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72568f74d7_0_0"/>
          <p:cNvSpPr txBox="1"/>
          <p:nvPr/>
        </p:nvSpPr>
        <p:spPr>
          <a:xfrm>
            <a:off x="171068" y="134763"/>
            <a:ext cx="365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Esquema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72568f74d7_0_0"/>
          <p:cNvSpPr txBox="1"/>
          <p:nvPr/>
        </p:nvSpPr>
        <p:spPr>
          <a:xfrm>
            <a:off x="4656025" y="6522811"/>
            <a:ext cx="3318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025" lIns="86025" spcFirstLastPara="1" rIns="86025" wrap="square" tIns="860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565"/>
              </a:spcAft>
              <a:buClr>
                <a:srgbClr val="000000"/>
              </a:buClr>
              <a:buSzPts val="1411"/>
              <a:buFont typeface="Arial"/>
              <a:buNone/>
            </a:pPr>
            <a:r>
              <a:rPr b="1" i="0" lang="es-MX" sz="13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SESIONES DE CUSTOMER SUCCESS CON SU PMO</a:t>
            </a:r>
            <a:endParaRPr b="1" i="0" sz="13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72568f74d7_0_0"/>
          <p:cNvSpPr txBox="1"/>
          <p:nvPr/>
        </p:nvSpPr>
        <p:spPr>
          <a:xfrm>
            <a:off x="4674350" y="2259029"/>
            <a:ext cx="36561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6025" lIns="86025" spcFirstLastPara="1" rIns="86025" wrap="square" tIns="8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1"/>
              <a:buFont typeface="Arial"/>
              <a:buNone/>
            </a:pPr>
            <a:r>
              <a:rPr b="1" i="0" lang="es-MX" sz="13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SEGUIMIENTO DE PLANEACIÓN ESTRATÉGICA</a:t>
            </a:r>
            <a:endParaRPr b="1" i="0" sz="13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</a:pPr>
            <a:r>
              <a:rPr b="1" i="0" lang="es-MX" sz="9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 Establecimiento de ritmo de juntas efectivas</a:t>
            </a:r>
            <a:endParaRPr b="1" i="0" sz="9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</a:pPr>
            <a:r>
              <a:rPr b="1" i="0" lang="es-MX" sz="9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2.2 Revisión de Números (Basecamp - Metronome)</a:t>
            </a:r>
            <a:endParaRPr b="1" i="0" sz="9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7"/>
              <a:buFont typeface="Arial"/>
              <a:buNone/>
            </a:pPr>
            <a:r>
              <a:rPr b="1" i="0" lang="es-MX" sz="9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2.3 Team Back de Realineación Key Players</a:t>
            </a:r>
            <a:endParaRPr b="1" i="0" sz="9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72568f74d7_0_0"/>
          <p:cNvSpPr txBox="1"/>
          <p:nvPr/>
        </p:nvSpPr>
        <p:spPr>
          <a:xfrm>
            <a:off x="4656025" y="5216890"/>
            <a:ext cx="33186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025" lIns="86025" spcFirstLastPara="1" rIns="86025" wrap="square" tIns="860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1"/>
              <a:buFont typeface="Arial"/>
              <a:buNone/>
            </a:pPr>
            <a:r>
              <a:rPr b="1" i="0" lang="es-MX" sz="13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SESIONES DE PROCESSING 1:1</a:t>
            </a:r>
            <a:endParaRPr b="1" i="0" sz="13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65"/>
              </a:spcBef>
              <a:spcAft>
                <a:spcPts val="565"/>
              </a:spcAft>
              <a:buClr>
                <a:srgbClr val="000000"/>
              </a:buClr>
              <a:buSzPts val="1411"/>
              <a:buFont typeface="Arial"/>
              <a:buNone/>
            </a:pPr>
            <a:r>
              <a:rPr b="1" i="0" lang="es-MX" sz="13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KEY PLAYERS</a:t>
            </a:r>
            <a:endParaRPr b="1" i="0" sz="13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72568f74d7_0_0"/>
          <p:cNvSpPr txBox="1"/>
          <p:nvPr/>
        </p:nvSpPr>
        <p:spPr>
          <a:xfrm>
            <a:off x="4656025" y="3645250"/>
            <a:ext cx="39921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025" lIns="86025" spcFirstLastPara="1" rIns="86025" wrap="square" tIns="8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1"/>
              <a:buFont typeface="Arial"/>
              <a:buNone/>
            </a:pPr>
            <a:r>
              <a:rPr b="1" i="0" lang="es-MX" sz="13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DE CREACIÓN DE CÓDIGO</a:t>
            </a:r>
            <a:endParaRPr b="1" i="0" sz="13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1"/>
              <a:buFont typeface="Arial"/>
              <a:buNone/>
            </a:pPr>
            <a:r>
              <a:rPr b="1" i="0" lang="es-MX" sz="13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HONOR</a:t>
            </a:r>
            <a:endParaRPr b="1" i="0" sz="13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9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 Estableciendo y fortaleciendo el Contexto para el Código de Honor</a:t>
            </a:r>
            <a:endParaRPr b="1" i="0" sz="9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9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 Creación, alineación e implementación del Código de Honor</a:t>
            </a:r>
            <a:endParaRPr b="1" i="0" sz="13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72568f74d7_0_0"/>
          <p:cNvSpPr txBox="1"/>
          <p:nvPr/>
        </p:nvSpPr>
        <p:spPr>
          <a:xfrm>
            <a:off x="4674347" y="950564"/>
            <a:ext cx="3747600" cy="7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86025" lIns="86025" spcFirstLastPara="1" rIns="86025" wrap="square" tIns="860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1"/>
              <a:buFont typeface="Arial"/>
              <a:buNone/>
            </a:pPr>
            <a:r>
              <a:rPr b="1" i="0" lang="es-MX" sz="131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DE TRES DÍAS</a:t>
            </a:r>
            <a:endParaRPr b="1" i="0" sz="13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000000"/>
              </a:buClr>
              <a:buSzPts val="1411"/>
              <a:buFont typeface="Arial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Día 1 - REDEFINICIÓN DE MISIÓN Y VALORES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65"/>
              </a:spcBef>
              <a:spcAft>
                <a:spcPts val="565"/>
              </a:spcAft>
              <a:buClr>
                <a:srgbClr val="000000"/>
              </a:buClr>
              <a:buSzPts val="1411"/>
              <a:buFont typeface="Arial"/>
              <a:buNone/>
            </a:pPr>
            <a:r>
              <a:rPr b="1" i="0" lang="es-MX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Día 2 y 3 - PLANEACIÓN ESTRATÉGICA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8da7f9a09_0_3"/>
          <p:cNvSpPr txBox="1"/>
          <p:nvPr/>
        </p:nvSpPr>
        <p:spPr>
          <a:xfrm>
            <a:off x="224425" y="278000"/>
            <a:ext cx="64590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KICK OFF</a:t>
            </a:r>
            <a:r>
              <a:rPr lang="es-MX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g37356eecaf6_0_0"/>
          <p:cNvGrpSpPr/>
          <p:nvPr/>
        </p:nvGrpSpPr>
        <p:grpSpPr>
          <a:xfrm>
            <a:off x="518847" y="1787527"/>
            <a:ext cx="5223128" cy="946498"/>
            <a:chOff x="8200122" y="2306327"/>
            <a:chExt cx="5223128" cy="946498"/>
          </a:xfrm>
        </p:grpSpPr>
        <p:pic>
          <p:nvPicPr>
            <p:cNvPr descr="Meeting with solid fill" id="140" name="Google Shape;140;g37356eecaf6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200122" y="2306327"/>
              <a:ext cx="790632" cy="69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g37356eecaf6_0_0"/>
            <p:cNvSpPr txBox="1"/>
            <p:nvPr/>
          </p:nvSpPr>
          <p:spPr>
            <a:xfrm>
              <a:off x="8990750" y="2329425"/>
              <a:ext cx="44325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s-MX" sz="18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1 SESIÓN DE KICK OFF ONLINE</a:t>
              </a:r>
              <a:endParaRPr b="1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1" lang="es-MX" sz="18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12 SESIONES ONLINE INDIVIDUALES</a:t>
              </a:r>
              <a:endParaRPr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42" name="Google Shape;142;g37356eecaf6_0_0"/>
          <p:cNvGrpSpPr/>
          <p:nvPr/>
        </p:nvGrpSpPr>
        <p:grpSpPr>
          <a:xfrm>
            <a:off x="489826" y="2563200"/>
            <a:ext cx="4300199" cy="790625"/>
            <a:chOff x="8704501" y="3129970"/>
            <a:chExt cx="4300199" cy="790625"/>
          </a:xfrm>
        </p:grpSpPr>
        <p:pic>
          <p:nvPicPr>
            <p:cNvPr descr="Daily calendar with solid fill" id="143" name="Google Shape;143;g37356eecaf6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04501" y="3129970"/>
              <a:ext cx="790625" cy="790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g37356eecaf6_0_0"/>
            <p:cNvSpPr txBox="1"/>
            <p:nvPr/>
          </p:nvSpPr>
          <p:spPr>
            <a:xfrm>
              <a:off x="9486900" y="3199503"/>
              <a:ext cx="3517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PERIODICIDAD:</a:t>
              </a:r>
              <a:endParaRPr b="1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QUINCENAL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145;g37356eecaf6_0_0"/>
          <p:cNvGrpSpPr/>
          <p:nvPr/>
        </p:nvGrpSpPr>
        <p:grpSpPr>
          <a:xfrm>
            <a:off x="413630" y="3341792"/>
            <a:ext cx="4022100" cy="914400"/>
            <a:chOff x="8628305" y="4091993"/>
            <a:chExt cx="4022100" cy="914400"/>
          </a:xfrm>
        </p:grpSpPr>
        <p:pic>
          <p:nvPicPr>
            <p:cNvPr descr="Alarm clock with solid fill" id="146" name="Google Shape;146;g37356eecaf6_0_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628305" y="409199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g37356eecaf6_0_0"/>
            <p:cNvSpPr txBox="1"/>
            <p:nvPr/>
          </p:nvSpPr>
          <p:spPr>
            <a:xfrm>
              <a:off x="9542705" y="4278582"/>
              <a:ext cx="31077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DURACIÓN:</a:t>
              </a:r>
              <a:endParaRPr b="1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1 HR C/U</a:t>
              </a:r>
              <a:endParaRPr b="1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48" name="Google Shape;148;g37356eecaf6_0_0"/>
          <p:cNvGrpSpPr/>
          <p:nvPr/>
        </p:nvGrpSpPr>
        <p:grpSpPr>
          <a:xfrm>
            <a:off x="413630" y="4474395"/>
            <a:ext cx="4217845" cy="914400"/>
            <a:chOff x="598581" y="6124739"/>
            <a:chExt cx="4217845" cy="914400"/>
          </a:xfrm>
        </p:grpSpPr>
        <p:pic>
          <p:nvPicPr>
            <p:cNvPr descr="Group with solid fill" id="149" name="Google Shape;149;g37356eecaf6_0_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8581" y="6124739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g37356eecaf6_0_0"/>
            <p:cNvSpPr txBox="1"/>
            <p:nvPr/>
          </p:nvSpPr>
          <p:spPr>
            <a:xfrm>
              <a:off x="1512526" y="6414248"/>
              <a:ext cx="3303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PARTICIPANTES: 10</a:t>
              </a:r>
              <a:endParaRPr b="1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id="151" name="Google Shape;151;g37356eecaf6_0_0" title="Plantillas para propuestas (30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43475" y="1319225"/>
            <a:ext cx="7263468" cy="544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7356eecaf6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2400" y="152400"/>
            <a:ext cx="5383780" cy="11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eting with solid fill" id="157" name="Google Shape;157;g37372c4c07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351" y="18611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7372c4c07f_0_0"/>
          <p:cNvSpPr txBox="1"/>
          <p:nvPr/>
        </p:nvSpPr>
        <p:spPr>
          <a:xfrm>
            <a:off x="1245750" y="1718075"/>
            <a:ext cx="5784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16 SESIONES ONLINE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Distribuidas en: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4 Sesiones para Establecer y fortalecer el Contexto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12 Sesiones de Creación, alineación e implementación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Daily calendar with solid fill" id="159" name="Google Shape;159;g37372c4c07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351" y="2967706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7372c4c07f_0_0"/>
          <p:cNvSpPr txBox="1"/>
          <p:nvPr/>
        </p:nvSpPr>
        <p:spPr>
          <a:xfrm>
            <a:off x="1245750" y="3101650"/>
            <a:ext cx="22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PERIODICIDAD: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QUINCENAL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Alarm clock with solid fill" id="161" name="Google Shape;161;g37372c4c07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338" y="387865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7372c4c07f_0_0"/>
          <p:cNvSpPr txBox="1"/>
          <p:nvPr/>
        </p:nvSpPr>
        <p:spPr>
          <a:xfrm>
            <a:off x="1245738" y="4012599"/>
            <a:ext cx="24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DURACIÓN: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 HR C/U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roup with solid fill" id="163" name="Google Shape;163;g37372c4c07f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1338" y="4659107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7372c4c07f_0_0"/>
          <p:cNvSpPr txBox="1"/>
          <p:nvPr/>
        </p:nvSpPr>
        <p:spPr>
          <a:xfrm>
            <a:off x="1245748" y="4923550"/>
            <a:ext cx="22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PARTICIPANTES: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65" name="Google Shape;165;g37372c4c07f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94625" y="2048800"/>
            <a:ext cx="5542724" cy="372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7372c4c07f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2400" y="152400"/>
            <a:ext cx="5972175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4de3b0d0a_0_0"/>
          <p:cNvSpPr/>
          <p:nvPr/>
        </p:nvSpPr>
        <p:spPr>
          <a:xfrm>
            <a:off x="1131125" y="1369950"/>
            <a:ext cx="2978793" cy="2673014"/>
          </a:xfrm>
          <a:prstGeom prst="flowChartOffpageConnector">
            <a:avLst/>
          </a:prstGeom>
          <a:solidFill>
            <a:srgbClr val="D9D9D9"/>
          </a:solidFill>
          <a:ln cap="flat" cmpd="sng" w="9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325" lIns="88325" spcFirstLastPara="1" rIns="88325" wrap="square" tIns="88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74de3b0d0a_0_0"/>
          <p:cNvSpPr txBox="1"/>
          <p:nvPr/>
        </p:nvSpPr>
        <p:spPr>
          <a:xfrm>
            <a:off x="144768" y="161088"/>
            <a:ext cx="365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Esquema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g374de3b0d0a_0_0"/>
          <p:cNvGrpSpPr/>
          <p:nvPr/>
        </p:nvGrpSpPr>
        <p:grpSpPr>
          <a:xfrm>
            <a:off x="6562700" y="4257341"/>
            <a:ext cx="2979011" cy="2673060"/>
            <a:chOff x="2065275" y="4462366"/>
            <a:chExt cx="2979011" cy="2673060"/>
          </a:xfrm>
        </p:grpSpPr>
        <p:sp>
          <p:nvSpPr>
            <p:cNvPr id="174" name="Google Shape;174;g374de3b0d0a_0_0"/>
            <p:cNvSpPr/>
            <p:nvPr/>
          </p:nvSpPr>
          <p:spPr>
            <a:xfrm>
              <a:off x="2065275" y="4462366"/>
              <a:ext cx="2978846" cy="2673060"/>
            </a:xfrm>
            <a:prstGeom prst="flowChartOffpageConnector">
              <a:avLst/>
            </a:prstGeom>
            <a:solidFill>
              <a:srgbClr val="6AA84F"/>
            </a:solidFill>
            <a:ln cap="flat" cmpd="sng" w="9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2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g374de3b0d0a_0_0"/>
            <p:cNvSpPr txBox="1"/>
            <p:nvPr/>
          </p:nvSpPr>
          <p:spPr>
            <a:xfrm>
              <a:off x="2065286" y="4574851"/>
              <a:ext cx="2979000" cy="13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625" lIns="76625" spcFirstLastPara="1" rIns="76625" wrap="square" tIns="766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7"/>
                <a:buFont typeface="Arial"/>
                <a:buNone/>
              </a:pPr>
              <a:r>
                <a:rPr b="1" i="0" lang="es-MX" sz="108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PROGRAMA</a:t>
              </a:r>
              <a:endParaRPr b="1" sz="1084"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7"/>
                <a:buFont typeface="Arial"/>
                <a:buNone/>
              </a:pPr>
              <a:r>
                <a:rPr b="1" i="0" lang="es-MX" sz="108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 CÓDIGO</a:t>
              </a:r>
              <a:r>
                <a:rPr b="1" lang="es-MX" sz="1084"/>
                <a:t> </a:t>
              </a:r>
              <a:r>
                <a:rPr b="1" i="0" lang="es-MX" sz="108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 HONOR</a:t>
              </a:r>
              <a:endParaRPr b="1" i="0" sz="10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7"/>
                <a:buFont typeface="Arial"/>
                <a:buNone/>
              </a:pPr>
              <a:r>
                <a:t/>
              </a:r>
              <a:endParaRPr b="1" sz="1084"/>
            </a:p>
            <a:p>
              <a:pPr indent="-228201" lvl="0" marL="320657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Sesiones Online</a:t>
              </a:r>
              <a:endParaRPr b="1" sz="1068">
                <a:solidFill>
                  <a:schemeClr val="dk1"/>
                </a:solidFill>
              </a:endParaRPr>
            </a:p>
            <a:p>
              <a:pPr indent="-228201" lvl="0" marL="320657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Quincenales</a:t>
              </a:r>
              <a:endParaRPr b="1" sz="1068">
                <a:solidFill>
                  <a:schemeClr val="dk1"/>
                </a:solidFill>
              </a:endParaRPr>
            </a:p>
            <a:p>
              <a:pPr indent="-228201" lvl="0" marL="320657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1 hr.</a:t>
              </a:r>
              <a:endParaRPr b="1" sz="1068">
                <a:solidFill>
                  <a:schemeClr val="dk1"/>
                </a:solidFill>
              </a:endParaRPr>
            </a:p>
            <a:p>
              <a:pPr indent="-228201" lvl="0" marL="320657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Todos los colaboradores</a:t>
              </a:r>
              <a:endParaRPr b="1" sz="1068">
                <a:solidFill>
                  <a:schemeClr val="dk1"/>
                </a:solidFill>
              </a:endParaRPr>
            </a:p>
          </p:txBody>
        </p:sp>
      </p:grpSp>
      <p:grpSp>
        <p:nvGrpSpPr>
          <p:cNvPr id="176" name="Google Shape;176;g374de3b0d0a_0_0"/>
          <p:cNvGrpSpPr/>
          <p:nvPr/>
        </p:nvGrpSpPr>
        <p:grpSpPr>
          <a:xfrm>
            <a:off x="9650044" y="4257341"/>
            <a:ext cx="2979000" cy="2673060"/>
            <a:chOff x="8499794" y="4462366"/>
            <a:chExt cx="2979000" cy="2673060"/>
          </a:xfrm>
        </p:grpSpPr>
        <p:sp>
          <p:nvSpPr>
            <p:cNvPr id="177" name="Google Shape;177;g374de3b0d0a_0_0"/>
            <p:cNvSpPr/>
            <p:nvPr/>
          </p:nvSpPr>
          <p:spPr>
            <a:xfrm>
              <a:off x="8499799" y="4462366"/>
              <a:ext cx="2978846" cy="2673060"/>
            </a:xfrm>
            <a:prstGeom prst="flowChartOffpageConnector">
              <a:avLst/>
            </a:prstGeom>
            <a:solidFill>
              <a:srgbClr val="E06666"/>
            </a:solidFill>
            <a:ln cap="flat" cmpd="sng" w="9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2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g374de3b0d0a_0_0"/>
            <p:cNvSpPr txBox="1"/>
            <p:nvPr/>
          </p:nvSpPr>
          <p:spPr>
            <a:xfrm>
              <a:off x="8499794" y="4574851"/>
              <a:ext cx="2979000" cy="155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625" lIns="76625" spcFirstLastPara="1" rIns="76625" wrap="square" tIns="76625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7"/>
                <a:buFont typeface="Arial"/>
                <a:buNone/>
              </a:pPr>
              <a:r>
                <a:rPr b="1" i="0" lang="es-MX" sz="108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SESIONES DE CUSTOMER SUCCESS</a:t>
              </a:r>
              <a:endParaRPr b="1" sz="1084"/>
            </a:p>
            <a:p>
              <a:pPr indent="0" lvl="0" marL="0" marR="0" rtl="0" algn="ctr">
                <a:lnSpc>
                  <a:spcPct val="90000"/>
                </a:lnSpc>
                <a:spcBef>
                  <a:spcPts val="503"/>
                </a:spcBef>
                <a:spcAft>
                  <a:spcPts val="0"/>
                </a:spcAft>
                <a:buClr>
                  <a:srgbClr val="000000"/>
                </a:buClr>
                <a:buSzPts val="1257"/>
                <a:buFont typeface="Arial"/>
                <a:buNone/>
              </a:pPr>
              <a:r>
                <a:rPr b="1" lang="es-MX" sz="1084"/>
                <a:t>Y SEGUIMIENTO</a:t>
              </a:r>
              <a:endParaRPr b="1" i="0" sz="10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503"/>
                </a:spcBef>
                <a:spcAft>
                  <a:spcPts val="0"/>
                </a:spcAft>
                <a:buClr>
                  <a:schemeClr val="dk1"/>
                </a:buClr>
                <a:buSzPts val="1257"/>
                <a:buFont typeface="Arial"/>
                <a:buNone/>
              </a:pPr>
              <a:r>
                <a:t/>
              </a:r>
              <a:endParaRPr b="1" sz="1084">
                <a:solidFill>
                  <a:schemeClr val="dk1"/>
                </a:solidFill>
              </a:endParaRPr>
            </a:p>
            <a:p>
              <a:pPr indent="-228201" lvl="0" marL="320657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Sesiones Online</a:t>
              </a:r>
              <a:endParaRPr b="1" sz="1068">
                <a:solidFill>
                  <a:schemeClr val="dk1"/>
                </a:solidFill>
              </a:endParaRPr>
            </a:p>
            <a:p>
              <a:pPr indent="-228201" lvl="0" marL="320657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Quincenales</a:t>
              </a:r>
              <a:endParaRPr b="1" sz="1068">
                <a:solidFill>
                  <a:schemeClr val="dk1"/>
                </a:solidFill>
              </a:endParaRPr>
            </a:p>
            <a:p>
              <a:pPr indent="-228201" lvl="0" marL="320657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30 mins.</a:t>
              </a:r>
              <a:endParaRPr b="1" sz="1068">
                <a:solidFill>
                  <a:schemeClr val="dk1"/>
                </a:solidFill>
              </a:endParaRPr>
            </a:p>
            <a:p>
              <a:pPr indent="-228201" lvl="0" marL="320657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PMO</a:t>
              </a:r>
              <a:endParaRPr b="1" sz="1084"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503"/>
                </a:spcAft>
                <a:buClr>
                  <a:srgbClr val="000000"/>
                </a:buClr>
                <a:buSzPts val="1257"/>
                <a:buFont typeface="Arial"/>
                <a:buNone/>
              </a:pPr>
              <a:r>
                <a:t/>
              </a:r>
              <a:endParaRPr b="1" sz="1084"/>
            </a:p>
          </p:txBody>
        </p:sp>
      </p:grpSp>
      <p:grpSp>
        <p:nvGrpSpPr>
          <p:cNvPr id="179" name="Google Shape;179;g374de3b0d0a_0_0"/>
          <p:cNvGrpSpPr/>
          <p:nvPr/>
        </p:nvGrpSpPr>
        <p:grpSpPr>
          <a:xfrm>
            <a:off x="375738" y="4257338"/>
            <a:ext cx="2979000" cy="2673071"/>
            <a:chOff x="8490575" y="1039150"/>
            <a:chExt cx="2979000" cy="2673071"/>
          </a:xfrm>
        </p:grpSpPr>
        <p:sp>
          <p:nvSpPr>
            <p:cNvPr id="180" name="Google Shape;180;g374de3b0d0a_0_0"/>
            <p:cNvSpPr/>
            <p:nvPr/>
          </p:nvSpPr>
          <p:spPr>
            <a:xfrm>
              <a:off x="8490713" y="1039150"/>
              <a:ext cx="2978829" cy="2673071"/>
            </a:xfrm>
            <a:prstGeom prst="flowChartOffpageConnector">
              <a:avLst/>
            </a:prstGeom>
            <a:solidFill>
              <a:srgbClr val="FFD966"/>
            </a:solidFill>
            <a:ln cap="flat" cmpd="sng" w="92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2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g374de3b0d0a_0_0"/>
            <p:cNvSpPr txBox="1"/>
            <p:nvPr/>
          </p:nvSpPr>
          <p:spPr>
            <a:xfrm>
              <a:off x="8490575" y="1108369"/>
              <a:ext cx="2979000" cy="212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625" lIns="76625" spcFirstLastPara="1" rIns="76625" wrap="square" tIns="766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7"/>
                <a:buFont typeface="Arial"/>
                <a:buNone/>
              </a:pPr>
              <a:r>
                <a:rPr b="1" lang="es-MX" sz="1068"/>
                <a:t>REVISIÓN Y </a:t>
              </a:r>
              <a:r>
                <a:rPr b="1" i="0" lang="es-MX" sz="106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SEGUIMIENTO DE PLANEACIÓN ESTRATÉGICA</a:t>
              </a:r>
              <a:endParaRPr b="1" i="0" sz="10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17"/>
                <a:buFont typeface="Arial"/>
                <a:buNone/>
              </a:pPr>
              <a:r>
                <a:t/>
              </a:r>
              <a:endParaRPr b="1" sz="1068"/>
            </a:p>
            <a:p>
              <a:pPr indent="-67871" lvl="0" marL="80163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69"/>
                <a:buChar char="●"/>
              </a:pPr>
              <a:r>
                <a:rPr b="1" lang="es-MX" sz="1068"/>
                <a:t>Sesión de </a:t>
              </a:r>
              <a:r>
                <a:rPr b="1" i="0" lang="es-MX" sz="106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Revisión de Planeació</a:t>
              </a:r>
              <a:r>
                <a:rPr b="1" lang="es-MX" sz="1068"/>
                <a:t>n</a:t>
              </a:r>
              <a:endParaRPr b="1" sz="1068"/>
            </a:p>
            <a:p>
              <a:pPr indent="-67871" lvl="0" marL="80163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69"/>
                <a:buChar char="●"/>
              </a:pPr>
              <a:r>
                <a:rPr b="1" lang="es-MX" sz="1068"/>
                <a:t>Online</a:t>
              </a:r>
              <a:endParaRPr b="1" sz="1068"/>
            </a:p>
            <a:p>
              <a:pPr indent="-67871" lvl="0" marL="80163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69"/>
                <a:buChar char="●"/>
              </a:pPr>
              <a:r>
                <a:rPr b="1" lang="es-MX" sz="1068"/>
                <a:t>2 hrs.</a:t>
              </a:r>
              <a:endParaRPr b="1" sz="1068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68"/>
            </a:p>
            <a:p>
              <a:pPr indent="-67871" lvl="0" marL="80163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69"/>
                <a:buChar char="●"/>
              </a:pPr>
              <a:r>
                <a:rPr b="1" lang="es-MX" sz="1068"/>
                <a:t>Sesiones de Revisión y seguimiento de </a:t>
              </a:r>
              <a:r>
                <a:rPr b="1" i="0" lang="es-MX" sz="106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Números (</a:t>
              </a:r>
              <a:r>
                <a:rPr b="1" lang="es-MX" sz="1068"/>
                <a:t>mensual)</a:t>
              </a:r>
              <a:endParaRPr b="1" sz="1068"/>
            </a:p>
            <a:p>
              <a:pPr indent="-67871" lvl="0" marL="80163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69"/>
                <a:buChar char="●"/>
              </a:pPr>
              <a:r>
                <a:rPr b="1" lang="es-MX" sz="1068"/>
                <a:t>Online</a:t>
              </a:r>
              <a:endParaRPr b="1" sz="1068"/>
            </a:p>
            <a:p>
              <a:pPr indent="-67871" lvl="0" marL="80163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69"/>
                <a:buChar char="●"/>
              </a:pPr>
              <a:r>
                <a:rPr b="1" lang="es-MX" sz="1068"/>
                <a:t>2 hrs</a:t>
              </a:r>
              <a:endParaRPr b="1" sz="1068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68"/>
            </a:p>
          </p:txBody>
        </p:sp>
      </p:grpSp>
      <p:grpSp>
        <p:nvGrpSpPr>
          <p:cNvPr id="182" name="Google Shape;182;g374de3b0d0a_0_0"/>
          <p:cNvGrpSpPr/>
          <p:nvPr/>
        </p:nvGrpSpPr>
        <p:grpSpPr>
          <a:xfrm>
            <a:off x="3475233" y="4257289"/>
            <a:ext cx="2979122" cy="2673165"/>
            <a:chOff x="4831605" y="973350"/>
            <a:chExt cx="3310504" cy="2970513"/>
          </a:xfrm>
        </p:grpSpPr>
        <p:sp>
          <p:nvSpPr>
            <p:cNvPr id="183" name="Google Shape;183;g374de3b0d0a_0_0"/>
            <p:cNvSpPr/>
            <p:nvPr/>
          </p:nvSpPr>
          <p:spPr>
            <a:xfrm>
              <a:off x="4831605" y="973350"/>
              <a:ext cx="3310310" cy="2970513"/>
            </a:xfrm>
            <a:prstGeom prst="flowChartOffpageConnector">
              <a:avLst/>
            </a:prstGeom>
            <a:solidFill>
              <a:srgbClr val="EA9999"/>
            </a:solidFill>
            <a:ln cap="flat" cmpd="sng" w="9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2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g374de3b0d0a_0_0"/>
            <p:cNvSpPr txBox="1"/>
            <p:nvPr/>
          </p:nvSpPr>
          <p:spPr>
            <a:xfrm>
              <a:off x="4831609" y="1050272"/>
              <a:ext cx="3310500" cy="126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625" lIns="76625" spcFirstLastPara="1" rIns="76625" wrap="square" tIns="766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7"/>
                <a:buFont typeface="Arial"/>
                <a:buNone/>
              </a:pPr>
              <a:r>
                <a:rPr b="1" lang="es-MX" sz="1068"/>
                <a:t>TALLERES DE EMPODERAMIENTO</a:t>
              </a:r>
              <a:endParaRPr b="1" sz="1068"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7"/>
                <a:buFont typeface="Arial"/>
                <a:buNone/>
              </a:pPr>
              <a:r>
                <a:t/>
              </a:r>
              <a:endParaRPr b="1" sz="1068"/>
            </a:p>
            <a:p>
              <a:pPr indent="-67872" lvl="0" marL="240492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Font typeface="Arial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Sesiones Presenciales / online</a:t>
              </a:r>
              <a:endParaRPr b="1" sz="1068">
                <a:solidFill>
                  <a:schemeClr val="dk1"/>
                </a:solidFill>
              </a:endParaRPr>
            </a:p>
            <a:p>
              <a:pPr indent="-67872" lvl="0" marL="240492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Bimestrales</a:t>
              </a:r>
              <a:endParaRPr b="1" sz="1068">
                <a:solidFill>
                  <a:schemeClr val="dk1"/>
                </a:solidFill>
              </a:endParaRPr>
            </a:p>
            <a:p>
              <a:pPr indent="-67872" lvl="0" marL="240492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Font typeface="Arial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4 hrs.</a:t>
              </a:r>
              <a:endParaRPr b="1" sz="1068">
                <a:solidFill>
                  <a:schemeClr val="dk1"/>
                </a:solidFill>
              </a:endParaRPr>
            </a:p>
            <a:p>
              <a:pPr indent="-67872" lvl="0" marL="240492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Font typeface="Arial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Todos los colaboradores</a:t>
              </a:r>
              <a:endParaRPr b="1" sz="1068">
                <a:solidFill>
                  <a:schemeClr val="dk1"/>
                </a:solidFill>
              </a:endParaRPr>
            </a:p>
          </p:txBody>
        </p:sp>
      </p:grpSp>
      <p:grpSp>
        <p:nvGrpSpPr>
          <p:cNvPr id="185" name="Google Shape;185;g374de3b0d0a_0_0"/>
          <p:cNvGrpSpPr/>
          <p:nvPr/>
        </p:nvGrpSpPr>
        <p:grpSpPr>
          <a:xfrm>
            <a:off x="4410117" y="1369957"/>
            <a:ext cx="3007199" cy="2672868"/>
            <a:chOff x="4800401" y="4133362"/>
            <a:chExt cx="3341704" cy="2970513"/>
          </a:xfrm>
        </p:grpSpPr>
        <p:sp>
          <p:nvSpPr>
            <p:cNvPr id="186" name="Google Shape;186;g374de3b0d0a_0_0"/>
            <p:cNvSpPr/>
            <p:nvPr/>
          </p:nvSpPr>
          <p:spPr>
            <a:xfrm>
              <a:off x="4800401" y="4133362"/>
              <a:ext cx="3310310" cy="2970513"/>
            </a:xfrm>
            <a:prstGeom prst="flowChartOffpageConnector">
              <a:avLst/>
            </a:prstGeom>
            <a:solidFill>
              <a:srgbClr val="8E7CC3"/>
            </a:solidFill>
            <a:ln cap="flat" cmpd="sng" w="9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8325" lIns="88325" spcFirstLastPara="1" rIns="88325" wrap="square" tIns="88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2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g374de3b0d0a_0_0"/>
            <p:cNvSpPr txBox="1"/>
            <p:nvPr/>
          </p:nvSpPr>
          <p:spPr>
            <a:xfrm>
              <a:off x="4800405" y="4258364"/>
              <a:ext cx="3341700" cy="12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625" lIns="76625" spcFirstLastPara="1" rIns="76625" wrap="square" tIns="766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7"/>
                <a:buFont typeface="Arial"/>
                <a:buNone/>
              </a:pPr>
              <a:r>
                <a:rPr b="1" lang="es-MX" sz="1083"/>
                <a:t>SESIONES DE PING PONG</a:t>
              </a:r>
              <a:endParaRPr b="1" i="0" sz="10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7"/>
                <a:buFont typeface="Arial"/>
                <a:buNone/>
              </a:pPr>
              <a:r>
                <a:t/>
              </a:r>
              <a:endParaRPr b="1" sz="1083"/>
            </a:p>
            <a:p>
              <a:pPr indent="-228197" lvl="0" marL="32065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Sesiones Presenciales</a:t>
              </a:r>
              <a:endParaRPr b="1" sz="1068">
                <a:solidFill>
                  <a:schemeClr val="dk1"/>
                </a:solidFill>
              </a:endParaRPr>
            </a:p>
            <a:p>
              <a:pPr indent="-228197" lvl="0" marL="32065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Bimestrales</a:t>
              </a:r>
              <a:endParaRPr b="1" sz="1068">
                <a:solidFill>
                  <a:schemeClr val="dk1"/>
                </a:solidFill>
              </a:endParaRPr>
            </a:p>
            <a:p>
              <a:pPr indent="-228197" lvl="0" marL="32065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3 hrs.</a:t>
              </a:r>
              <a:endParaRPr b="1" sz="1068">
                <a:solidFill>
                  <a:schemeClr val="dk1"/>
                </a:solidFill>
              </a:endParaRPr>
            </a:p>
            <a:p>
              <a:pPr indent="-228197" lvl="0" marL="32065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69"/>
                <a:buChar char="●"/>
              </a:pPr>
              <a:r>
                <a:rPr b="1" lang="es-MX" sz="1068">
                  <a:solidFill>
                    <a:schemeClr val="dk1"/>
                  </a:solidFill>
                </a:rPr>
                <a:t>Key Players</a:t>
              </a:r>
              <a:endParaRPr b="1" sz="1068">
                <a:solidFill>
                  <a:schemeClr val="dk1"/>
                </a:solidFill>
              </a:endParaRPr>
            </a:p>
          </p:txBody>
        </p:sp>
      </p:grpSp>
      <p:sp>
        <p:nvSpPr>
          <p:cNvPr id="188" name="Google Shape;188;g374de3b0d0a_0_0"/>
          <p:cNvSpPr txBox="1"/>
          <p:nvPr/>
        </p:nvSpPr>
        <p:spPr>
          <a:xfrm>
            <a:off x="1225521" y="1439450"/>
            <a:ext cx="2790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625" lIns="76625" spcFirstLastPara="1" rIns="76625" wrap="square" tIns="766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rPr b="1" lang="es-MX" sz="1068"/>
              <a:t>APLICACIÓN Y SESIÓN DE ENTREGA DE RESULTADOS TEST CLIFTON STRENGTHS</a:t>
            </a:r>
            <a:endParaRPr b="1" sz="1068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7"/>
              <a:buFont typeface="Arial"/>
              <a:buNone/>
            </a:pPr>
            <a:r>
              <a:t/>
            </a:r>
            <a:endParaRPr b="1" sz="1068"/>
          </a:p>
          <a:p>
            <a:pPr indent="-228197" lvl="0" marL="320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9"/>
              <a:buChar char="●"/>
            </a:pPr>
            <a:r>
              <a:rPr b="1" lang="es-MX" sz="1068">
                <a:solidFill>
                  <a:schemeClr val="dk1"/>
                </a:solidFill>
              </a:rPr>
              <a:t>1 Cuestionario en Línea</a:t>
            </a:r>
            <a:endParaRPr b="1" sz="1068">
              <a:solidFill>
                <a:schemeClr val="dk1"/>
              </a:solidFill>
            </a:endParaRPr>
          </a:p>
          <a:p>
            <a:pPr indent="-228197" lvl="0" marL="320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9"/>
              <a:buChar char="●"/>
            </a:pPr>
            <a:r>
              <a:rPr b="1" lang="es-MX" sz="1068">
                <a:solidFill>
                  <a:schemeClr val="dk1"/>
                </a:solidFill>
              </a:rPr>
              <a:t>de 20 a 30 mins</a:t>
            </a:r>
            <a:endParaRPr b="1" sz="1068">
              <a:solidFill>
                <a:schemeClr val="dk1"/>
              </a:solidFill>
            </a:endParaRPr>
          </a:p>
          <a:p>
            <a:pPr indent="0" lvl="0" marL="320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68">
              <a:solidFill>
                <a:schemeClr val="dk1"/>
              </a:solidFill>
            </a:endParaRPr>
          </a:p>
          <a:p>
            <a:pPr indent="-228197" lvl="0" marL="320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9"/>
              <a:buChar char="●"/>
            </a:pPr>
            <a:r>
              <a:rPr b="1" lang="es-MX" sz="1068">
                <a:solidFill>
                  <a:schemeClr val="dk1"/>
                </a:solidFill>
              </a:rPr>
              <a:t>1 Sesión de Entrega de Resultados</a:t>
            </a:r>
            <a:endParaRPr b="1" sz="1068">
              <a:solidFill>
                <a:schemeClr val="dk1"/>
              </a:solidFill>
            </a:endParaRPr>
          </a:p>
          <a:p>
            <a:pPr indent="-228197" lvl="0" marL="320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9"/>
              <a:buChar char="●"/>
            </a:pPr>
            <a:r>
              <a:rPr b="1" lang="es-MX" sz="1068">
                <a:solidFill>
                  <a:schemeClr val="dk1"/>
                </a:solidFill>
              </a:rPr>
              <a:t>Online</a:t>
            </a:r>
            <a:endParaRPr b="1" sz="1068">
              <a:solidFill>
                <a:schemeClr val="dk1"/>
              </a:solidFill>
            </a:endParaRPr>
          </a:p>
          <a:p>
            <a:pPr indent="-228197" lvl="0" marL="320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9"/>
              <a:buChar char="●"/>
            </a:pPr>
            <a:r>
              <a:rPr b="1" lang="es-MX" sz="1068">
                <a:solidFill>
                  <a:schemeClr val="dk1"/>
                </a:solidFill>
              </a:rPr>
              <a:t>2 hrs</a:t>
            </a:r>
            <a:endParaRPr b="1" sz="1068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g37372c4c07f_0_57"/>
          <p:cNvGrpSpPr/>
          <p:nvPr/>
        </p:nvGrpSpPr>
        <p:grpSpPr>
          <a:xfrm>
            <a:off x="520161" y="1782026"/>
            <a:ext cx="2745394" cy="790625"/>
            <a:chOff x="8704501" y="3129970"/>
            <a:chExt cx="2640310" cy="790625"/>
          </a:xfrm>
        </p:grpSpPr>
        <p:pic>
          <p:nvPicPr>
            <p:cNvPr descr="Daily calendar with solid fill" id="195" name="Google Shape;195;g37372c4c07f_0_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704501" y="3129970"/>
              <a:ext cx="790625" cy="790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g37372c4c07f_0_57"/>
            <p:cNvSpPr txBox="1"/>
            <p:nvPr/>
          </p:nvSpPr>
          <p:spPr>
            <a:xfrm>
              <a:off x="9486911" y="3199507"/>
              <a:ext cx="18579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DÍA 1</a:t>
              </a:r>
              <a:endParaRPr b="1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PRESENCIAL</a:t>
              </a:r>
              <a:endParaRPr b="1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197" name="Google Shape;197;g37372c4c07f_0_57"/>
          <p:cNvGrpSpPr/>
          <p:nvPr/>
        </p:nvGrpSpPr>
        <p:grpSpPr>
          <a:xfrm>
            <a:off x="443642" y="2530092"/>
            <a:ext cx="2821508" cy="914400"/>
            <a:chOff x="8628305" y="4091993"/>
            <a:chExt cx="2821508" cy="914400"/>
          </a:xfrm>
        </p:grpSpPr>
        <p:pic>
          <p:nvPicPr>
            <p:cNvPr descr="Alarm clock with solid fill" id="198" name="Google Shape;198;g37372c4c07f_0_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28305" y="409199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g37372c4c07f_0_57"/>
            <p:cNvSpPr txBox="1"/>
            <p:nvPr/>
          </p:nvSpPr>
          <p:spPr>
            <a:xfrm>
              <a:off x="9542713" y="4278576"/>
              <a:ext cx="1907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DURACIÓN:</a:t>
              </a:r>
              <a:endParaRPr b="1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s-MX" sz="18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6 HRS</a:t>
              </a:r>
              <a:endParaRPr b="1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00" name="Google Shape;200;g37372c4c07f_0_57"/>
          <p:cNvGrpSpPr/>
          <p:nvPr/>
        </p:nvGrpSpPr>
        <p:grpSpPr>
          <a:xfrm>
            <a:off x="443643" y="3373157"/>
            <a:ext cx="3405145" cy="914400"/>
            <a:chOff x="598581" y="5972339"/>
            <a:chExt cx="3405145" cy="914400"/>
          </a:xfrm>
        </p:grpSpPr>
        <p:pic>
          <p:nvPicPr>
            <p:cNvPr descr="Group with solid fill" id="201" name="Google Shape;201;g37372c4c07f_0_5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8581" y="5972339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g37372c4c07f_0_57"/>
            <p:cNvSpPr txBox="1"/>
            <p:nvPr/>
          </p:nvSpPr>
          <p:spPr>
            <a:xfrm>
              <a:off x="1512526" y="6240444"/>
              <a:ext cx="2491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PARTICIPANTES: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3" name="Google Shape;203;g37372c4c07f_0_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96700" y="1849152"/>
            <a:ext cx="3898573" cy="392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7372c4c07f_0_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01125" y="1853362"/>
            <a:ext cx="3844351" cy="418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7372c4c07f_0_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5575" y="139250"/>
            <a:ext cx="5429149" cy="114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7372c4c07f_0_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80725" y="674125"/>
            <a:ext cx="2355750" cy="39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7372c4c07f_0_57"/>
          <p:cNvSpPr txBox="1"/>
          <p:nvPr/>
        </p:nvSpPr>
        <p:spPr>
          <a:xfrm>
            <a:off x="1580725" y="764650"/>
            <a:ext cx="300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565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MX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Día 1 - REDEFINICIÓN DE MISIÓN Y VALORES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7372c4c07f_0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350" y="1191044"/>
            <a:ext cx="7294090" cy="523791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7372c4c07f_0_75"/>
          <p:cNvSpPr txBox="1"/>
          <p:nvPr/>
        </p:nvSpPr>
        <p:spPr>
          <a:xfrm>
            <a:off x="1595192" y="3455898"/>
            <a:ext cx="189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PLANEACIÓN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ESTRATÉGICA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7372c4c07f_0_75"/>
          <p:cNvSpPr txBox="1"/>
          <p:nvPr/>
        </p:nvSpPr>
        <p:spPr>
          <a:xfrm>
            <a:off x="4900780" y="2215590"/>
            <a:ext cx="272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DÍA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ESTRATEGIA Y PERSONAS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7372c4c07f_0_75"/>
          <p:cNvSpPr txBox="1"/>
          <p:nvPr/>
        </p:nvSpPr>
        <p:spPr>
          <a:xfrm>
            <a:off x="5055401" y="4889042"/>
            <a:ext cx="241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DÍA 3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EJECUCIÓN Y EFECTIVO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g37372c4c07f_0_75"/>
          <p:cNvGrpSpPr/>
          <p:nvPr/>
        </p:nvGrpSpPr>
        <p:grpSpPr>
          <a:xfrm>
            <a:off x="9064916" y="1981190"/>
            <a:ext cx="3372851" cy="914400"/>
            <a:chOff x="9157041" y="1644015"/>
            <a:chExt cx="3372851" cy="914400"/>
          </a:xfrm>
        </p:grpSpPr>
        <p:pic>
          <p:nvPicPr>
            <p:cNvPr descr="Meeting with solid fill" id="217" name="Google Shape;217;g37372c4c07f_0_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157041" y="1644015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g37372c4c07f_0_75"/>
            <p:cNvSpPr txBox="1"/>
            <p:nvPr/>
          </p:nvSpPr>
          <p:spPr>
            <a:xfrm>
              <a:off x="10071392" y="1777985"/>
              <a:ext cx="2458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1 SESIÓN PRESENCIAL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g37372c4c07f_0_75"/>
          <p:cNvGrpSpPr/>
          <p:nvPr/>
        </p:nvGrpSpPr>
        <p:grpSpPr>
          <a:xfrm>
            <a:off x="9064891" y="2895609"/>
            <a:ext cx="3372900" cy="914400"/>
            <a:chOff x="9157041" y="2758434"/>
            <a:chExt cx="3372900" cy="914400"/>
          </a:xfrm>
        </p:grpSpPr>
        <p:pic>
          <p:nvPicPr>
            <p:cNvPr descr="Daily calendar with solid fill" id="220" name="Google Shape;220;g37372c4c07f_0_7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57041" y="2758434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g37372c4c07f_0_75"/>
            <p:cNvSpPr txBox="1"/>
            <p:nvPr/>
          </p:nvSpPr>
          <p:spPr>
            <a:xfrm>
              <a:off x="10071441" y="2892379"/>
              <a:ext cx="2458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PERIODICIDAD: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DOS DÍAS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g37372c4c07f_0_75"/>
          <p:cNvGrpSpPr/>
          <p:nvPr/>
        </p:nvGrpSpPr>
        <p:grpSpPr>
          <a:xfrm>
            <a:off x="9109941" y="3810003"/>
            <a:ext cx="3372850" cy="914400"/>
            <a:chOff x="9157041" y="3872853"/>
            <a:chExt cx="3372850" cy="914400"/>
          </a:xfrm>
        </p:grpSpPr>
        <p:pic>
          <p:nvPicPr>
            <p:cNvPr descr="Alarm clock with solid fill" id="223" name="Google Shape;223;g37372c4c07f_0_7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157041" y="387285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g37372c4c07f_0_75"/>
            <p:cNvSpPr txBox="1"/>
            <p:nvPr/>
          </p:nvSpPr>
          <p:spPr>
            <a:xfrm>
              <a:off x="10071391" y="4006798"/>
              <a:ext cx="2458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DURACIÓN: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8 HRS C/U</a:t>
              </a:r>
              <a:endParaRPr b="1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225" name="Google Shape;225;g37372c4c07f_0_75"/>
          <p:cNvGrpSpPr/>
          <p:nvPr/>
        </p:nvGrpSpPr>
        <p:grpSpPr>
          <a:xfrm>
            <a:off x="9064916" y="4724396"/>
            <a:ext cx="3462906" cy="914400"/>
            <a:chOff x="9157041" y="4987271"/>
            <a:chExt cx="3462906" cy="914400"/>
          </a:xfrm>
        </p:grpSpPr>
        <p:pic>
          <p:nvPicPr>
            <p:cNvPr descr="Group with solid fill" id="226" name="Google Shape;226;g37372c4c07f_0_7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157041" y="4987271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g37372c4c07f_0_75"/>
            <p:cNvSpPr txBox="1"/>
            <p:nvPr/>
          </p:nvSpPr>
          <p:spPr>
            <a:xfrm>
              <a:off x="10071447" y="5273625"/>
              <a:ext cx="2548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PARTICIPANTES:</a:t>
              </a:r>
              <a:endParaRPr b="1" i="0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id="228" name="Google Shape;228;g37372c4c07f_0_7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5575" y="139250"/>
            <a:ext cx="5429149" cy="114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7372c4c07f_0_7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80725" y="674125"/>
            <a:ext cx="2355750" cy="39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7372c4c07f_0_75"/>
          <p:cNvSpPr txBox="1"/>
          <p:nvPr/>
        </p:nvSpPr>
        <p:spPr>
          <a:xfrm>
            <a:off x="1580725" y="76465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565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MX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Día 2 y 3 - PLANEACIÓN ESTRATÉGICA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eting with solid fill" id="235" name="Google Shape;235;g372568f74d7_0_3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405" y="1893851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72568f74d7_0_330"/>
          <p:cNvSpPr txBox="1"/>
          <p:nvPr/>
        </p:nvSpPr>
        <p:spPr>
          <a:xfrm>
            <a:off x="1606643" y="2027796"/>
            <a:ext cx="24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 SESIÓN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ONLINE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Daily calendar with solid fill" id="237" name="Google Shape;237;g372568f74d7_0_3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692" y="291032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arm clock with solid fill" id="238" name="Google Shape;238;g372568f74d7_0_3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405" y="398258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72568f74d7_0_330"/>
          <p:cNvSpPr txBox="1"/>
          <p:nvPr/>
        </p:nvSpPr>
        <p:spPr>
          <a:xfrm>
            <a:off x="1597805" y="4199439"/>
            <a:ext cx="247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DURACIÓN: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1.5 HRS.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roup with solid fill" id="240" name="Google Shape;240;g372568f74d7_0_3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692" y="505481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72568f74d7_0_330"/>
          <p:cNvSpPr txBox="1"/>
          <p:nvPr/>
        </p:nvSpPr>
        <p:spPr>
          <a:xfrm>
            <a:off x="1597798" y="5333593"/>
            <a:ext cx="22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PARTICIPANTES: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72568f74d7_0_330"/>
          <p:cNvSpPr txBox="1"/>
          <p:nvPr/>
        </p:nvSpPr>
        <p:spPr>
          <a:xfrm>
            <a:off x="1606655" y="3072160"/>
            <a:ext cx="24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PERIODICIDAD: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 SOLA VEZ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Esquemático&#10;&#10;Descripción generada automáticamente" id="243" name="Google Shape;243;g372568f74d7_0_3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41650" y="1399975"/>
            <a:ext cx="8014651" cy="569457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72568f74d7_0_330"/>
          <p:cNvSpPr/>
          <p:nvPr/>
        </p:nvSpPr>
        <p:spPr>
          <a:xfrm>
            <a:off x="5103858" y="4756500"/>
            <a:ext cx="17001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JUNTAS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DIARIAS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72568f74d7_0_330"/>
          <p:cNvSpPr/>
          <p:nvPr/>
        </p:nvSpPr>
        <p:spPr>
          <a:xfrm>
            <a:off x="7638225" y="2331050"/>
            <a:ext cx="18384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JUNTAS SEMANALES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72568f74d7_0_330"/>
          <p:cNvSpPr/>
          <p:nvPr/>
        </p:nvSpPr>
        <p:spPr>
          <a:xfrm>
            <a:off x="10021350" y="4756500"/>
            <a:ext cx="21786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JUNTAS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MX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MENSUALES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g372568f74d7_0_3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900" y="180650"/>
            <a:ext cx="5619495" cy="1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72568f74d7_0_3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59699" y="929100"/>
            <a:ext cx="2579475" cy="4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72568f74d7_0_330"/>
          <p:cNvSpPr txBox="1"/>
          <p:nvPr/>
        </p:nvSpPr>
        <p:spPr>
          <a:xfrm>
            <a:off x="1597800" y="995575"/>
            <a:ext cx="26415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MX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Establecimiento de ritmo de juntas efectivas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g372568f74d7_0_3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3400" y="494575"/>
            <a:ext cx="624075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72568f74d7_0_330"/>
          <p:cNvSpPr txBox="1"/>
          <p:nvPr/>
        </p:nvSpPr>
        <p:spPr>
          <a:xfrm>
            <a:off x="791100" y="506825"/>
            <a:ext cx="50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eting with solid fill" id="256" name="Google Shape;256;g372568f74d7_0_3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405" y="1893851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72568f74d7_0_346"/>
          <p:cNvSpPr txBox="1"/>
          <p:nvPr/>
        </p:nvSpPr>
        <p:spPr>
          <a:xfrm>
            <a:off x="1606643" y="2027796"/>
            <a:ext cx="24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12 SESIONES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ONLINE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Daily calendar with solid fill" id="258" name="Google Shape;258;g372568f74d7_0_3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692" y="291032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arm clock with solid fill" id="259" name="Google Shape;259;g372568f74d7_0_3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405" y="398258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72568f74d7_0_346"/>
          <p:cNvSpPr txBox="1"/>
          <p:nvPr/>
        </p:nvSpPr>
        <p:spPr>
          <a:xfrm>
            <a:off x="1597805" y="4199439"/>
            <a:ext cx="247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DURACIÓN: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 HRS.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roup with solid fill" id="261" name="Google Shape;261;g372568f74d7_0_3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692" y="494811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72568f74d7_0_346"/>
          <p:cNvSpPr txBox="1"/>
          <p:nvPr/>
        </p:nvSpPr>
        <p:spPr>
          <a:xfrm>
            <a:off x="1597798" y="5220675"/>
            <a:ext cx="22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PARTICIPANTES: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72568f74d7_0_346"/>
          <p:cNvSpPr txBox="1"/>
          <p:nvPr/>
        </p:nvSpPr>
        <p:spPr>
          <a:xfrm>
            <a:off x="1606655" y="3072160"/>
            <a:ext cx="24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PERIODICIDAD: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 VEZ AL 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g372568f74d7_0_3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02500" y="1697950"/>
            <a:ext cx="7264651" cy="4835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72568f74d7_0_3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900" y="180650"/>
            <a:ext cx="5619495" cy="1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72568f74d7_0_3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59699" y="929100"/>
            <a:ext cx="2579475" cy="4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72568f74d7_0_346"/>
          <p:cNvSpPr txBox="1"/>
          <p:nvPr/>
        </p:nvSpPr>
        <p:spPr>
          <a:xfrm>
            <a:off x="1655900" y="915900"/>
            <a:ext cx="2912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MX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Revisión de Números (Basecamp - Metronome)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g372568f74d7_0_3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3400" y="494575"/>
            <a:ext cx="624075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72568f74d7_0_346"/>
          <p:cNvSpPr txBox="1"/>
          <p:nvPr/>
        </p:nvSpPr>
        <p:spPr>
          <a:xfrm>
            <a:off x="791100" y="506825"/>
            <a:ext cx="50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2.2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eting with solid fill" id="274" name="Google Shape;274;g372568f74d7_0_3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405" y="1893851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72568f74d7_0_373"/>
          <p:cNvSpPr txBox="1"/>
          <p:nvPr/>
        </p:nvSpPr>
        <p:spPr>
          <a:xfrm>
            <a:off x="1606643" y="2027796"/>
            <a:ext cx="24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4 SESIONES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PRESENCIALES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Daily calendar with solid fill" id="276" name="Google Shape;276;g372568f74d7_0_3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692" y="291032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arm clock with solid fill" id="277" name="Google Shape;277;g372568f74d7_0_3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405" y="398258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72568f74d7_0_373"/>
          <p:cNvSpPr txBox="1"/>
          <p:nvPr/>
        </p:nvSpPr>
        <p:spPr>
          <a:xfrm>
            <a:off x="1597805" y="4199439"/>
            <a:ext cx="247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DURACIÓN: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6 HRS.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roup with solid fill" id="279" name="Google Shape;279;g372568f74d7_0_3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692" y="494811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72568f74d7_0_373"/>
          <p:cNvSpPr txBox="1"/>
          <p:nvPr/>
        </p:nvSpPr>
        <p:spPr>
          <a:xfrm>
            <a:off x="1597798" y="5220675"/>
            <a:ext cx="22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PARTICIPANTES: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72568f74d7_0_373"/>
          <p:cNvSpPr txBox="1"/>
          <p:nvPr/>
        </p:nvSpPr>
        <p:spPr>
          <a:xfrm>
            <a:off x="1606655" y="3072160"/>
            <a:ext cx="24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PERIODICIDAD: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UNA CADA 3 MESES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2" name="Google Shape;282;g372568f74d7_0_373"/>
          <p:cNvGrpSpPr/>
          <p:nvPr/>
        </p:nvGrpSpPr>
        <p:grpSpPr>
          <a:xfrm>
            <a:off x="4754272" y="1560923"/>
            <a:ext cx="7647934" cy="5229906"/>
            <a:chOff x="4217562" y="1552325"/>
            <a:chExt cx="8169125" cy="5939701"/>
          </a:xfrm>
        </p:grpSpPr>
        <p:pic>
          <p:nvPicPr>
            <p:cNvPr id="283" name="Google Shape;283;g372568f74d7_0_37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17562" y="1552325"/>
              <a:ext cx="8169125" cy="5390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g372568f74d7_0_37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137300" y="3666825"/>
              <a:ext cx="5100250" cy="38252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g372568f74d7_0_373"/>
            <p:cNvSpPr txBox="1"/>
            <p:nvPr/>
          </p:nvSpPr>
          <p:spPr>
            <a:xfrm>
              <a:off x="4688249" y="2473625"/>
              <a:ext cx="1553400" cy="83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REVISIÓN TRIMESTRAL PRESENCIAL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6" name="Google Shape;286;g372568f74d7_0_37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6900" y="180650"/>
            <a:ext cx="5619495" cy="1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72568f74d7_0_37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86025" y="929100"/>
            <a:ext cx="2579475" cy="2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372568f74d7_0_37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3400" y="494575"/>
            <a:ext cx="624075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372568f74d7_0_373"/>
          <p:cNvSpPr txBox="1"/>
          <p:nvPr/>
        </p:nvSpPr>
        <p:spPr>
          <a:xfrm>
            <a:off x="791100" y="506825"/>
            <a:ext cx="50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2.3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g372568f74d7_0_37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09825" y="1081500"/>
            <a:ext cx="2458500" cy="2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72568f74d7_0_373"/>
          <p:cNvSpPr txBox="1"/>
          <p:nvPr/>
        </p:nvSpPr>
        <p:spPr>
          <a:xfrm>
            <a:off x="1612100" y="929100"/>
            <a:ext cx="2912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MX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Back de Realineación Key Players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4de3b0d0a_0_65"/>
          <p:cNvSpPr txBox="1"/>
          <p:nvPr/>
        </p:nvSpPr>
        <p:spPr>
          <a:xfrm>
            <a:off x="881450" y="1547250"/>
            <a:ext cx="57045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1.- APLICACIÓN DEL TEST 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8" name="Google Shape;298;g374de3b0d0a_0_65"/>
          <p:cNvGrpSpPr/>
          <p:nvPr/>
        </p:nvGrpSpPr>
        <p:grpSpPr>
          <a:xfrm>
            <a:off x="1301324" y="1981338"/>
            <a:ext cx="2796100" cy="810413"/>
            <a:chOff x="498849" y="2070013"/>
            <a:chExt cx="2796100" cy="810413"/>
          </a:xfrm>
        </p:grpSpPr>
        <p:pic>
          <p:nvPicPr>
            <p:cNvPr descr="Meeting with solid fill" id="299" name="Google Shape;299;g374de3b0d0a_0_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8849" y="2070013"/>
              <a:ext cx="810413" cy="8104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g374de3b0d0a_0_65"/>
            <p:cNvSpPr txBox="1"/>
            <p:nvPr/>
          </p:nvSpPr>
          <p:spPr>
            <a:xfrm>
              <a:off x="1309249" y="2218725"/>
              <a:ext cx="1985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 CUESTIONARIO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 LÍNEA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1" name="Google Shape;301;g374de3b0d0a_0_65"/>
          <p:cNvGrpSpPr/>
          <p:nvPr/>
        </p:nvGrpSpPr>
        <p:grpSpPr>
          <a:xfrm>
            <a:off x="1301324" y="2582724"/>
            <a:ext cx="2796099" cy="810400"/>
            <a:chOff x="552749" y="3674512"/>
            <a:chExt cx="2796099" cy="810400"/>
          </a:xfrm>
        </p:grpSpPr>
        <p:pic>
          <p:nvPicPr>
            <p:cNvPr descr="Daily calendar with solid fill" id="302" name="Google Shape;302;g374de3b0d0a_0_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2749" y="3674512"/>
              <a:ext cx="810400" cy="81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g374de3b0d0a_0_65"/>
            <p:cNvSpPr txBox="1"/>
            <p:nvPr/>
          </p:nvSpPr>
          <p:spPr>
            <a:xfrm>
              <a:off x="1363148" y="3870100"/>
              <a:ext cx="1985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PERIODICIDAD: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UNA SOLA VEZ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4" name="Google Shape;304;g374de3b0d0a_0_65"/>
          <p:cNvGrpSpPr/>
          <p:nvPr/>
        </p:nvGrpSpPr>
        <p:grpSpPr>
          <a:xfrm>
            <a:off x="1301324" y="3346549"/>
            <a:ext cx="3226601" cy="810400"/>
            <a:chOff x="691724" y="2813149"/>
            <a:chExt cx="3226601" cy="810400"/>
          </a:xfrm>
        </p:grpSpPr>
        <p:pic>
          <p:nvPicPr>
            <p:cNvPr descr="Alarm clock with solid fill" id="305" name="Google Shape;305;g374de3b0d0a_0_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91724" y="2813149"/>
              <a:ext cx="810400" cy="81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g374de3b0d0a_0_65"/>
            <p:cNvSpPr txBox="1"/>
            <p:nvPr/>
          </p:nvSpPr>
          <p:spPr>
            <a:xfrm>
              <a:off x="1502125" y="2990800"/>
              <a:ext cx="2416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DURACIÓN: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 A 30 MINS X PERSONA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7" name="Google Shape;307;g374de3b0d0a_0_65"/>
          <p:cNvGrpSpPr/>
          <p:nvPr/>
        </p:nvGrpSpPr>
        <p:grpSpPr>
          <a:xfrm>
            <a:off x="1301324" y="4019775"/>
            <a:ext cx="3490601" cy="810400"/>
            <a:chOff x="498849" y="4651575"/>
            <a:chExt cx="3490601" cy="810400"/>
          </a:xfrm>
        </p:grpSpPr>
        <p:pic>
          <p:nvPicPr>
            <p:cNvPr descr="Group with solid fill" id="308" name="Google Shape;308;g374de3b0d0a_0_6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98849" y="4651575"/>
              <a:ext cx="810400" cy="81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g374de3b0d0a_0_65"/>
            <p:cNvSpPr txBox="1"/>
            <p:nvPr/>
          </p:nvSpPr>
          <p:spPr>
            <a:xfrm>
              <a:off x="1309250" y="4823911"/>
              <a:ext cx="2680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PARTICIPANTES: </a:t>
              </a:r>
              <a:r>
                <a:rPr b="1" lang="es-MX"/>
                <a:t>A PARTIR DE UNO EN ADELANTE</a:t>
              </a:r>
              <a:endParaRPr b="1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0" name="Google Shape;310;g374de3b0d0a_0_65"/>
          <p:cNvSpPr txBox="1"/>
          <p:nvPr/>
        </p:nvSpPr>
        <p:spPr>
          <a:xfrm>
            <a:off x="6008575" y="1547250"/>
            <a:ext cx="541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MX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2.- ENTREGA DE RESULTADOS DEL TEST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" name="Google Shape;311;g374de3b0d0a_0_65"/>
          <p:cNvGrpSpPr/>
          <p:nvPr/>
        </p:nvGrpSpPr>
        <p:grpSpPr>
          <a:xfrm>
            <a:off x="6482349" y="1981338"/>
            <a:ext cx="2796100" cy="810413"/>
            <a:chOff x="498849" y="2070013"/>
            <a:chExt cx="2796100" cy="810413"/>
          </a:xfrm>
        </p:grpSpPr>
        <p:pic>
          <p:nvPicPr>
            <p:cNvPr descr="Meeting with solid fill" id="312" name="Google Shape;312;g374de3b0d0a_0_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8849" y="2070013"/>
              <a:ext cx="810413" cy="8104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g374de3b0d0a_0_65"/>
            <p:cNvSpPr txBox="1"/>
            <p:nvPr/>
          </p:nvSpPr>
          <p:spPr>
            <a:xfrm>
              <a:off x="1309249" y="2321325"/>
              <a:ext cx="1985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 SESIÓN PRESENCIAL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g374de3b0d0a_0_65"/>
          <p:cNvGrpSpPr/>
          <p:nvPr/>
        </p:nvGrpSpPr>
        <p:grpSpPr>
          <a:xfrm>
            <a:off x="6482349" y="2624599"/>
            <a:ext cx="2796099" cy="810400"/>
            <a:chOff x="552749" y="3674512"/>
            <a:chExt cx="2796099" cy="810400"/>
          </a:xfrm>
        </p:grpSpPr>
        <p:pic>
          <p:nvPicPr>
            <p:cNvPr descr="Daily calendar with solid fill" id="315" name="Google Shape;315;g374de3b0d0a_0_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2749" y="3674512"/>
              <a:ext cx="810400" cy="81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" name="Google Shape;316;g374de3b0d0a_0_65"/>
            <p:cNvSpPr txBox="1"/>
            <p:nvPr/>
          </p:nvSpPr>
          <p:spPr>
            <a:xfrm>
              <a:off x="1363148" y="3870100"/>
              <a:ext cx="1985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PERIODICIDAD: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UNA SOLA VEZ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" name="Google Shape;317;g374de3b0d0a_0_65"/>
          <p:cNvGrpSpPr/>
          <p:nvPr/>
        </p:nvGrpSpPr>
        <p:grpSpPr>
          <a:xfrm>
            <a:off x="6482349" y="3310974"/>
            <a:ext cx="2796099" cy="810400"/>
            <a:chOff x="656749" y="4563237"/>
            <a:chExt cx="2796099" cy="810400"/>
          </a:xfrm>
        </p:grpSpPr>
        <p:pic>
          <p:nvPicPr>
            <p:cNvPr descr="Alarm clock with solid fill" id="318" name="Google Shape;318;g374de3b0d0a_0_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6749" y="4563237"/>
              <a:ext cx="810400" cy="81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g374de3b0d0a_0_65"/>
            <p:cNvSpPr txBox="1"/>
            <p:nvPr/>
          </p:nvSpPr>
          <p:spPr>
            <a:xfrm>
              <a:off x="1467148" y="4740875"/>
              <a:ext cx="1985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DURACIÓN: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es-MX"/>
                <a:t>2</a:t>
              </a:r>
              <a:r>
                <a:rPr b="1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HRS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g374de3b0d0a_0_65"/>
          <p:cNvGrpSpPr/>
          <p:nvPr/>
        </p:nvGrpSpPr>
        <p:grpSpPr>
          <a:xfrm>
            <a:off x="6482349" y="4078250"/>
            <a:ext cx="4300904" cy="810400"/>
            <a:chOff x="498849" y="4651575"/>
            <a:chExt cx="4300904" cy="810400"/>
          </a:xfrm>
        </p:grpSpPr>
        <p:pic>
          <p:nvPicPr>
            <p:cNvPr descr="Group with solid fill" id="321" name="Google Shape;321;g374de3b0d0a_0_6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98849" y="4651575"/>
              <a:ext cx="810400" cy="81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g374de3b0d0a_0_65"/>
            <p:cNvSpPr txBox="1"/>
            <p:nvPr/>
          </p:nvSpPr>
          <p:spPr>
            <a:xfrm>
              <a:off x="1309253" y="4815315"/>
              <a:ext cx="3490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PARTICIPANTES: TODOS LOS QUE RESPONDAN LA </a:t>
              </a:r>
              <a:r>
                <a:rPr b="1" lang="es-MX"/>
                <a:t>PRUEBA</a:t>
              </a:r>
              <a:r>
                <a:rPr b="0" i="0" lang="es-MX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i="0" sz="1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g374de3b0d0a_0_65"/>
          <p:cNvGrpSpPr/>
          <p:nvPr/>
        </p:nvGrpSpPr>
        <p:grpSpPr>
          <a:xfrm>
            <a:off x="2315501" y="5122367"/>
            <a:ext cx="8373831" cy="2197846"/>
            <a:chOff x="1555425" y="4565650"/>
            <a:chExt cx="8853702" cy="2336394"/>
          </a:xfrm>
        </p:grpSpPr>
        <p:pic>
          <p:nvPicPr>
            <p:cNvPr id="324" name="Google Shape;324;g374de3b0d0a_0_6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82275" y="4565650"/>
              <a:ext cx="4426852" cy="2336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g374de3b0d0a_0_6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55425" y="4604550"/>
              <a:ext cx="4426850" cy="225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6" name="Google Shape;326;g374de3b0d0a_0_65"/>
          <p:cNvSpPr txBox="1"/>
          <p:nvPr/>
        </p:nvSpPr>
        <p:spPr>
          <a:xfrm>
            <a:off x="131625" y="180625"/>
            <a:ext cx="11595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3200">
                <a:solidFill>
                  <a:schemeClr val="dk1"/>
                </a:solidFill>
              </a:rPr>
              <a:t>APLICACIÓN Y SESIÓN DE ENTREGA DE RESULTADOS</a:t>
            </a:r>
            <a:endParaRPr b="1" sz="3200">
              <a:solidFill>
                <a:schemeClr val="dk1"/>
              </a:solidFill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3200">
                <a:solidFill>
                  <a:schemeClr val="dk1"/>
                </a:solidFill>
              </a:rPr>
              <a:t>TEST CLIFTON STRENGTHS</a:t>
            </a:r>
            <a:endParaRPr b="1"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4de3b0d0a_0_140"/>
          <p:cNvSpPr txBox="1"/>
          <p:nvPr/>
        </p:nvSpPr>
        <p:spPr>
          <a:xfrm>
            <a:off x="222775" y="190700"/>
            <a:ext cx="908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3200">
                <a:solidFill>
                  <a:schemeClr val="dk1"/>
                </a:solidFill>
              </a:rPr>
              <a:t>Bloque 1</a:t>
            </a:r>
            <a:endParaRPr b="1" sz="3200">
              <a:solidFill>
                <a:schemeClr val="dk1"/>
              </a:solidFill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3200">
                <a:solidFill>
                  <a:schemeClr val="dk1"/>
                </a:solidFill>
              </a:rPr>
              <a:t>Sesiones de Ping Pong con Key Players</a:t>
            </a:r>
            <a:endParaRPr b="1" sz="3200">
              <a:solidFill>
                <a:schemeClr val="dk1"/>
              </a:solidFill>
            </a:endParaRPr>
          </a:p>
        </p:txBody>
      </p:sp>
      <p:pic>
        <p:nvPicPr>
          <p:cNvPr descr="Meeting with solid fill" id="332" name="Google Shape;332;g374de3b0d0a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805" y="2317751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ily calendar with solid fill" id="333" name="Google Shape;333;g374de3b0d0a_0_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092" y="310562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arm clock with solid fill" id="334" name="Google Shape;334;g374de3b0d0a_0_1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805" y="402548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74de3b0d0a_0_140"/>
          <p:cNvSpPr txBox="1"/>
          <p:nvPr/>
        </p:nvSpPr>
        <p:spPr>
          <a:xfrm>
            <a:off x="1750205" y="4166139"/>
            <a:ext cx="247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DURACIÓN</a:t>
            </a: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4 </a:t>
            </a: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HRS.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6" name="Google Shape;336;g374de3b0d0a_0_140"/>
          <p:cNvSpPr txBox="1"/>
          <p:nvPr/>
        </p:nvSpPr>
        <p:spPr>
          <a:xfrm>
            <a:off x="1824331" y="2451695"/>
            <a:ext cx="24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SESIONES PRESENCIALES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74de3b0d0a_0_140"/>
          <p:cNvSpPr txBox="1"/>
          <p:nvPr/>
        </p:nvSpPr>
        <p:spPr>
          <a:xfrm>
            <a:off x="1824318" y="3239564"/>
            <a:ext cx="24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PERIODICIDAD</a:t>
            </a: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CADA 2 MESES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g374de3b0d0a_0_1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8400" y="792325"/>
            <a:ext cx="8754601" cy="656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74de3b0d0a_0_192"/>
          <p:cNvSpPr txBox="1"/>
          <p:nvPr/>
        </p:nvSpPr>
        <p:spPr>
          <a:xfrm>
            <a:off x="221850" y="222804"/>
            <a:ext cx="83586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s-MX" sz="3200">
                <a:solidFill>
                  <a:schemeClr val="dk1"/>
                </a:solidFill>
              </a:rPr>
              <a:t>Talleres</a:t>
            </a:r>
            <a:r>
              <a:rPr b="1" i="0" lang="es-MX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Empoderamiento</a:t>
            </a:r>
            <a:endParaRPr/>
          </a:p>
        </p:txBody>
      </p:sp>
      <p:pic>
        <p:nvPicPr>
          <p:cNvPr descr="Meeting with solid fill" id="344" name="Google Shape;344;g374de3b0d0a_0_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593" y="178625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74de3b0d0a_0_192"/>
          <p:cNvSpPr txBox="1"/>
          <p:nvPr/>
        </p:nvSpPr>
        <p:spPr>
          <a:xfrm>
            <a:off x="1674706" y="1907245"/>
            <a:ext cx="24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6 SESIONES PRESENCIALES</a:t>
            </a:r>
            <a:endParaRPr/>
          </a:p>
        </p:txBody>
      </p:sp>
      <p:pic>
        <p:nvPicPr>
          <p:cNvPr descr="Daily calendar with solid fill" id="346" name="Google Shape;346;g374de3b0d0a_0_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593" y="2873719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74de3b0d0a_0_192"/>
          <p:cNvSpPr txBox="1"/>
          <p:nvPr/>
        </p:nvSpPr>
        <p:spPr>
          <a:xfrm>
            <a:off x="1688993" y="3021664"/>
            <a:ext cx="24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PERIODICIDAD: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CADA 2 MESES</a:t>
            </a:r>
            <a:endParaRPr/>
          </a:p>
        </p:txBody>
      </p:sp>
      <p:pic>
        <p:nvPicPr>
          <p:cNvPr descr="Alarm clock with solid fill" id="348" name="Google Shape;348;g374de3b0d0a_0_1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4593" y="391446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374de3b0d0a_0_192"/>
          <p:cNvSpPr txBox="1"/>
          <p:nvPr/>
        </p:nvSpPr>
        <p:spPr>
          <a:xfrm>
            <a:off x="1688993" y="4059883"/>
            <a:ext cx="24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DURACIÓN: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4 HRS C/U</a:t>
            </a:r>
            <a:endParaRPr b="1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roup with solid fill" id="350" name="Google Shape;350;g374de3b0d0a_0_1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4606" y="495075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374de3b0d0a_0_1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15676" y="1078764"/>
            <a:ext cx="7255700" cy="546247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74de3b0d0a_0_192"/>
          <p:cNvSpPr txBox="1"/>
          <p:nvPr/>
        </p:nvSpPr>
        <p:spPr>
          <a:xfrm>
            <a:off x="1674698" y="5223300"/>
            <a:ext cx="22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PARTICIPANTES:</a:t>
            </a:r>
            <a:r>
              <a:rPr lang="es-MX"/>
              <a:t> </a:t>
            </a:r>
            <a:r>
              <a:rPr b="1"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80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72568f74d7_0_272"/>
          <p:cNvSpPr txBox="1"/>
          <p:nvPr/>
        </p:nvSpPr>
        <p:spPr>
          <a:xfrm>
            <a:off x="353325" y="1711025"/>
            <a:ext cx="80184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SESIONES QUINCENALES QUE GARANTIZAN QUE EL PROCESO REALMENTE SE ESTÉ LLEVANDO A CABO, AJUSTANDO Y MIDIENDO SEGÚN LAS NECESIDADES DEL CLIENTE, PARA CORREGIR Y LOGRAR EL RESULTADO PLANTEADO.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Icono&#10;&#10;Descripción generada automáticamente" id="358" name="Google Shape;358;g372568f74d7_0_2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9975" y="1871300"/>
            <a:ext cx="4720874" cy="47208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9" name="Google Shape;359;g372568f74d7_0_272"/>
          <p:cNvGrpSpPr/>
          <p:nvPr/>
        </p:nvGrpSpPr>
        <p:grpSpPr>
          <a:xfrm>
            <a:off x="1398516" y="2964128"/>
            <a:ext cx="3372913" cy="914400"/>
            <a:chOff x="1430791" y="2239290"/>
            <a:chExt cx="3372913" cy="914400"/>
          </a:xfrm>
        </p:grpSpPr>
        <p:pic>
          <p:nvPicPr>
            <p:cNvPr descr="Meeting with solid fill" id="360" name="Google Shape;360;g372568f74d7_0_2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30791" y="2239290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g372568f74d7_0_272"/>
            <p:cNvSpPr txBox="1"/>
            <p:nvPr/>
          </p:nvSpPr>
          <p:spPr>
            <a:xfrm>
              <a:off x="2345204" y="2511860"/>
              <a:ext cx="2458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16 SESIONES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g372568f74d7_0_272"/>
          <p:cNvGrpSpPr/>
          <p:nvPr/>
        </p:nvGrpSpPr>
        <p:grpSpPr>
          <a:xfrm>
            <a:off x="1353516" y="4618028"/>
            <a:ext cx="3372900" cy="914400"/>
            <a:chOff x="1430791" y="4468128"/>
            <a:chExt cx="3372900" cy="914400"/>
          </a:xfrm>
        </p:grpSpPr>
        <p:pic>
          <p:nvPicPr>
            <p:cNvPr descr="Alarm clock with solid fill" id="363" name="Google Shape;363;g372568f74d7_0_27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30791" y="4468128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g372568f74d7_0_272"/>
            <p:cNvSpPr txBox="1"/>
            <p:nvPr/>
          </p:nvSpPr>
          <p:spPr>
            <a:xfrm>
              <a:off x="2345191" y="4602073"/>
              <a:ext cx="2458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DURACIÓN: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30 MINS. C/U</a:t>
              </a:r>
              <a:endParaRPr b="1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365" name="Google Shape;365;g372568f74d7_0_272"/>
          <p:cNvGrpSpPr/>
          <p:nvPr/>
        </p:nvGrpSpPr>
        <p:grpSpPr>
          <a:xfrm>
            <a:off x="1398525" y="3774525"/>
            <a:ext cx="2900098" cy="914400"/>
            <a:chOff x="552750" y="3570513"/>
            <a:chExt cx="2900098" cy="914400"/>
          </a:xfrm>
        </p:grpSpPr>
        <p:pic>
          <p:nvPicPr>
            <p:cNvPr descr="Daily calendar with solid fill" id="366" name="Google Shape;366;g372568f74d7_0_27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52750" y="357051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g372568f74d7_0_272"/>
            <p:cNvSpPr txBox="1"/>
            <p:nvPr/>
          </p:nvSpPr>
          <p:spPr>
            <a:xfrm>
              <a:off x="1467148" y="3704450"/>
              <a:ext cx="19857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PERIODICIDAD: </a:t>
              </a:r>
              <a:endParaRPr b="1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MX" sz="18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CADA 15 DÍAS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8" name="Google Shape;368;g372568f74d7_0_2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400" y="152400"/>
            <a:ext cx="5514427" cy="11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"/>
          <p:cNvSpPr txBox="1"/>
          <p:nvPr/>
        </p:nvSpPr>
        <p:spPr>
          <a:xfrm>
            <a:off x="623570" y="192768"/>
            <a:ext cx="7628890" cy="1472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MX" sz="320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FOLLOW UP /SEGUIMIENTO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MX" sz="3200" u="none" cap="none" strike="noStrike">
                <a:solidFill>
                  <a:srgbClr val="244061"/>
                </a:solidFill>
                <a:latin typeface="Arial"/>
                <a:ea typeface="Arial"/>
                <a:cs typeface="Arial"/>
                <a:sym typeface="Arial"/>
              </a:rPr>
              <a:t>Diario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9"/>
          <p:cNvSpPr txBox="1"/>
          <p:nvPr/>
        </p:nvSpPr>
        <p:spPr>
          <a:xfrm>
            <a:off x="623571" y="1665616"/>
            <a:ext cx="5648138" cy="49742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Del Concepto a la Aplicación, al Resultado.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secreto del éxito está en la práctica diaria, SOMOS LO QUE PRACTICAMOS.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En este proceso de seguimiento diario medimos el avance en cortos periodos de tiempo de los participantes para poder medirlos y pasar de los subjetivo a lo objetivo.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Esto genera: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Una mayor </a:t>
            </a:r>
            <a:r>
              <a:rPr b="1" i="0" lang="es-MX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confianza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s-MX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Decisiones</a:t>
            </a:r>
            <a:r>
              <a:rPr b="0" i="0" lang="es-MX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más informadas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MX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El enfoque a la responsabilidad y </a:t>
            </a:r>
            <a:r>
              <a:rPr b="1" i="0" lang="es-MX" sz="16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rendición de cuentas</a:t>
            </a:r>
            <a:endParaRPr b="0" i="0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Internet with solid fill" id="375" name="Google Shape;3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029" y="192768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" id="376" name="Google Shape;376;p9"/>
          <p:cNvPicPr preferRelativeResize="0"/>
          <p:nvPr/>
        </p:nvPicPr>
        <p:blipFill rotWithShape="1">
          <a:blip r:embed="rId4">
            <a:alphaModFix amt="85000"/>
          </a:blip>
          <a:srcRect b="0" l="0" r="0" t="0"/>
          <a:stretch/>
        </p:blipFill>
        <p:spPr>
          <a:xfrm>
            <a:off x="6400028" y="928166"/>
            <a:ext cx="8517827" cy="6388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"/>
          <p:cNvSpPr txBox="1"/>
          <p:nvPr/>
        </p:nvSpPr>
        <p:spPr>
          <a:xfrm>
            <a:off x="267075" y="496025"/>
            <a:ext cx="107943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MX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INVERSIÓN</a:t>
            </a:r>
            <a:endParaRPr b="1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382" name="Google Shape;382;p21"/>
          <p:cNvGraphicFramePr/>
          <p:nvPr/>
        </p:nvGraphicFramePr>
        <p:xfrm>
          <a:off x="267007" y="11026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{1D0E2F5D-FF89-478C-A757-3EDE5F239F19}</a:tableStyleId>
              </a:tblPr>
              <a:tblGrid>
                <a:gridCol w="5350675"/>
                <a:gridCol w="1379675"/>
                <a:gridCol w="1175925"/>
                <a:gridCol w="1570725"/>
                <a:gridCol w="1791125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/>
                        <a:t>ACTIVIDAD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/>
                        <a:t>UNIDADES</a:t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/>
                        <a:t>(Sesión)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/>
                        <a:t>HORAS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/>
                        <a:t>COSTO POR HORA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/>
                        <a:t>INVERSIÓN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CB3E3"/>
                    </a:solidFill>
                  </a:tcPr>
                </a:tc>
              </a:tr>
              <a:tr h="35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Día 1 - REDEFINICIÓN DE MISIÓN Y VALORES</a:t>
                      </a:r>
                      <a:endParaRPr/>
                    </a:p>
                  </a:txBody>
                  <a:tcPr marT="41150" marB="41150" marR="82300" marL="82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1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6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A $15,000.00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R $12,000.00</a:t>
                      </a:r>
                      <a:endParaRPr/>
                    </a:p>
                  </a:txBody>
                  <a:tcPr marT="41150" marB="41150" marR="82300" marL="82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Día 2 y 3 - PLANEACIÓN ESTRATÉGICA</a:t>
                      </a:r>
                      <a:endParaRPr/>
                    </a:p>
                  </a:txBody>
                  <a:tcPr marT="41150" marB="41150" marR="82300" marL="82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1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16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A $15,000.00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R$12,000.00</a:t>
                      </a:r>
                      <a:endParaRPr/>
                    </a:p>
                  </a:txBody>
                  <a:tcPr marT="41150" marB="41150" marR="82300" marL="82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SEGUIMIENTO DE PLANEACIÓN ESTRATÉGICA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/>
                        <a:t>2.1 Establecimiento de ritmo de juntas efectivas</a:t>
                      </a:r>
                      <a:endParaRPr b="1"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1.5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$12,000.00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$18,000.00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400" u="none" cap="none" strike="noStrike">
                          <a:solidFill>
                            <a:schemeClr val="dk1"/>
                          </a:solidFill>
                        </a:rPr>
                        <a:t>SEGUIMIENTO DE PLANEACIÓN ESTRATÉGICA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dk1"/>
                          </a:solidFill>
                        </a:rPr>
                        <a:t>2.2 Revisión de Números (Basecamp - Metronome)</a:t>
                      </a:r>
                      <a:endParaRPr b="1"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12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24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$12,000.00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$288,000.00</a:t>
                      </a:r>
                      <a:endParaRPr i="0"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400" u="none" cap="none" strike="noStrike">
                          <a:solidFill>
                            <a:schemeClr val="dk1"/>
                          </a:solidFill>
                        </a:rPr>
                        <a:t>SEGUIMIENTO DE PLANEACIÓN ESTRATÉGICA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MX" sz="1400" u="none" cap="none" strike="noStrike">
                          <a:solidFill>
                            <a:schemeClr val="dk1"/>
                          </a:solidFill>
                        </a:rPr>
                        <a:t>2.3 Team Back de Realineación Key Players</a:t>
                      </a:r>
                      <a:endParaRPr b="1"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24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$15,000.00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$360,000.00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PROGRAMA DE CREACIÓN DE CÓDIGO DE HONOR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16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$12,500.00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$150,000.00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SESIONES DE PROCESSING 1:1 PARA KEY PLAYERS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36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36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$12,000.00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$432,000.00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400" u="none" cap="none" strike="noStrike"/>
                        <a:t>APLICACIÓN DE TEST CLIFTON STRENGTHS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n/a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$1,548.00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$6,192.00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SESIÓN DE ENTREGA DE RESULTADOS DEL TEST CLIFTON STRENGTHS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1.5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$15,000.00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$22,500.00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SESIONES DE CUSTOMER SUCCESS CON SU PMO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16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82300" marL="82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41150" marB="41150" marR="82300" marL="82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$5,000.00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82300" marL="82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400" u="none" cap="none" strike="noStrike"/>
                        <a:t>$80,000.00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82300" marL="82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850">
                <a:tc gridSpan="4"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MX" sz="1800" u="none" cap="none" strike="noStrike"/>
                        <a:t>TOTAL DE LA INVERSIÓN</a:t>
                      </a:r>
                      <a:endParaRPr b="1"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MX" sz="1800" u="none" cap="none" strike="noStrike"/>
                        <a:t>$1’568,000.00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g271ae4fcaaf_0_201"/>
          <p:cNvGrpSpPr/>
          <p:nvPr/>
        </p:nvGrpSpPr>
        <p:grpSpPr>
          <a:xfrm>
            <a:off x="214722" y="2490492"/>
            <a:ext cx="12575378" cy="4270433"/>
            <a:chOff x="4538" y="758494"/>
            <a:chExt cx="12575378" cy="4270433"/>
          </a:xfrm>
        </p:grpSpPr>
        <p:sp>
          <p:nvSpPr>
            <p:cNvPr id="389" name="Google Shape;389;g271ae4fcaaf_0_201"/>
            <p:cNvSpPr/>
            <p:nvPr/>
          </p:nvSpPr>
          <p:spPr>
            <a:xfrm>
              <a:off x="345940" y="758494"/>
              <a:ext cx="1068000" cy="106800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271ae4fcaaf_0_201"/>
            <p:cNvSpPr/>
            <p:nvPr/>
          </p:nvSpPr>
          <p:spPr>
            <a:xfrm>
              <a:off x="573541" y="986095"/>
              <a:ext cx="612900" cy="6129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271ae4fcaaf_0_201"/>
            <p:cNvSpPr/>
            <p:nvPr/>
          </p:nvSpPr>
          <p:spPr>
            <a:xfrm>
              <a:off x="4538" y="2159119"/>
              <a:ext cx="1750800" cy="18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271ae4fcaaf_0_201"/>
            <p:cNvSpPr txBox="1"/>
            <p:nvPr/>
          </p:nvSpPr>
          <p:spPr>
            <a:xfrm>
              <a:off x="4538" y="2159119"/>
              <a:ext cx="1750800" cy="18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A61C00"/>
                  </a:solidFill>
                  <a:latin typeface="Arial"/>
                  <a:ea typeface="Arial"/>
                  <a:cs typeface="Arial"/>
                  <a:sym typeface="Arial"/>
                </a:rPr>
                <a:t>LOS PRECIOS ESTÁN EXPRESADOS EN PESOS MEXICANOS Y NO INCLUYEN IVA</a:t>
              </a:r>
              <a:endParaRPr b="1" i="0" sz="1400" u="none" cap="none" strike="noStrike">
                <a:solidFill>
                  <a:srgbClr val="A61C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271ae4fcaaf_0_201"/>
            <p:cNvSpPr/>
            <p:nvPr/>
          </p:nvSpPr>
          <p:spPr>
            <a:xfrm>
              <a:off x="2403108" y="758494"/>
              <a:ext cx="1068000" cy="106800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g271ae4fcaaf_0_201"/>
            <p:cNvSpPr/>
            <p:nvPr/>
          </p:nvSpPr>
          <p:spPr>
            <a:xfrm>
              <a:off x="2630709" y="986095"/>
              <a:ext cx="612900" cy="612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g271ae4fcaaf_0_201"/>
            <p:cNvSpPr/>
            <p:nvPr/>
          </p:nvSpPr>
          <p:spPr>
            <a:xfrm>
              <a:off x="2061705" y="2159119"/>
              <a:ext cx="1750800" cy="18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g271ae4fcaaf_0_201"/>
            <p:cNvSpPr txBox="1"/>
            <p:nvPr/>
          </p:nvSpPr>
          <p:spPr>
            <a:xfrm>
              <a:off x="2061705" y="2159119"/>
              <a:ext cx="1750800" cy="18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MX" sz="1600" u="none" cap="none" strike="noStrike">
                  <a:solidFill>
                    <a:srgbClr val="6AA84F"/>
                  </a:solidFill>
                  <a:latin typeface="Arial"/>
                  <a:ea typeface="Arial"/>
                  <a:cs typeface="Arial"/>
                  <a:sym typeface="Arial"/>
                </a:rPr>
                <a:t>1 PRIMER PAGO DE $313,600.00 Y 11 PAGOS DE $114,036.36</a:t>
              </a:r>
              <a:endParaRPr b="0" i="0" sz="1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g271ae4fcaaf_0_201"/>
            <p:cNvSpPr/>
            <p:nvPr/>
          </p:nvSpPr>
          <p:spPr>
            <a:xfrm>
              <a:off x="4460276" y="758494"/>
              <a:ext cx="1068000" cy="106800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271ae4fcaaf_0_201"/>
            <p:cNvSpPr/>
            <p:nvPr/>
          </p:nvSpPr>
          <p:spPr>
            <a:xfrm>
              <a:off x="4687877" y="986095"/>
              <a:ext cx="612900" cy="6129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271ae4fcaaf_0_201"/>
            <p:cNvSpPr/>
            <p:nvPr/>
          </p:nvSpPr>
          <p:spPr>
            <a:xfrm>
              <a:off x="4118873" y="2159119"/>
              <a:ext cx="1750800" cy="18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271ae4fcaaf_0_201"/>
            <p:cNvSpPr txBox="1"/>
            <p:nvPr/>
          </p:nvSpPr>
          <p:spPr>
            <a:xfrm>
              <a:off x="4118873" y="2159119"/>
              <a:ext cx="1750800" cy="18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674EA7"/>
                  </a:solidFill>
                  <a:latin typeface="Arial"/>
                  <a:ea typeface="Arial"/>
                  <a:cs typeface="Arial"/>
                  <a:sym typeface="Arial"/>
                </a:rPr>
                <a:t>10% DE DESCUENTO EN PAGO EN UNA SOLA EXHIBICIÓN</a:t>
              </a:r>
              <a:endParaRPr b="1" i="0" sz="14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271ae4fcaaf_0_201"/>
            <p:cNvSpPr/>
            <p:nvPr/>
          </p:nvSpPr>
          <p:spPr>
            <a:xfrm>
              <a:off x="6693677" y="758494"/>
              <a:ext cx="1068000" cy="106800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49A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g271ae4fcaaf_0_201"/>
            <p:cNvSpPr/>
            <p:nvPr/>
          </p:nvSpPr>
          <p:spPr>
            <a:xfrm>
              <a:off x="6921279" y="986095"/>
              <a:ext cx="612900" cy="6129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271ae4fcaaf_0_201"/>
            <p:cNvSpPr/>
            <p:nvPr/>
          </p:nvSpPr>
          <p:spPr>
            <a:xfrm>
              <a:off x="6153001" y="2140271"/>
              <a:ext cx="2103300" cy="18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g271ae4fcaaf_0_201"/>
            <p:cNvSpPr txBox="1"/>
            <p:nvPr/>
          </p:nvSpPr>
          <p:spPr>
            <a:xfrm>
              <a:off x="6152991" y="2140278"/>
              <a:ext cx="2103300" cy="21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3D85C6"/>
                  </a:solidFill>
                  <a:latin typeface="Arial"/>
                  <a:ea typeface="Arial"/>
                  <a:cs typeface="Arial"/>
                  <a:sym typeface="Arial"/>
                </a:rPr>
                <a:t>EL CRONOGRAMA DEBE SER VALIDADO POR EL RESPONSABLE DEL PROYECTO PARA COMPROMETER TIEMPOS DEL EQUIPO QUE PARTICIPE EN EL DESARROLLO DE LA INICIATIVA</a:t>
              </a:r>
              <a:endParaRPr b="1" i="0" sz="1400" u="none" cap="none" strike="noStrike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271ae4fcaaf_0_201"/>
            <p:cNvSpPr/>
            <p:nvPr/>
          </p:nvSpPr>
          <p:spPr>
            <a:xfrm>
              <a:off x="9020212" y="758494"/>
              <a:ext cx="1068000" cy="106800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F795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g271ae4fcaaf_0_201"/>
            <p:cNvSpPr/>
            <p:nvPr/>
          </p:nvSpPr>
          <p:spPr>
            <a:xfrm>
              <a:off x="9247813" y="986095"/>
              <a:ext cx="612900" cy="612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1993" l="0" r="0" t="-1995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g271ae4fcaaf_0_201"/>
            <p:cNvSpPr/>
            <p:nvPr/>
          </p:nvSpPr>
          <p:spPr>
            <a:xfrm>
              <a:off x="8585677" y="2159119"/>
              <a:ext cx="1937100" cy="18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271ae4fcaaf_0_201"/>
            <p:cNvSpPr txBox="1"/>
            <p:nvPr/>
          </p:nvSpPr>
          <p:spPr>
            <a:xfrm>
              <a:off x="8585677" y="2159119"/>
              <a:ext cx="1937100" cy="18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E69138"/>
                  </a:solidFill>
                  <a:latin typeface="Arial"/>
                  <a:ea typeface="Arial"/>
                  <a:cs typeface="Arial"/>
                  <a:sym typeface="Arial"/>
                </a:rPr>
                <a:t>PROYECTO DE</a:t>
              </a:r>
              <a:endParaRPr b="0" i="0" sz="14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E69138"/>
                  </a:solidFill>
                  <a:latin typeface="Arial"/>
                  <a:ea typeface="Arial"/>
                  <a:cs typeface="Arial"/>
                  <a:sym typeface="Arial"/>
                </a:rPr>
                <a:t>12 MESES</a:t>
              </a:r>
              <a:endParaRPr b="0" i="0" sz="14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g271ae4fcaaf_0_201"/>
            <p:cNvSpPr/>
            <p:nvPr/>
          </p:nvSpPr>
          <p:spPr>
            <a:xfrm>
              <a:off x="11170513" y="758494"/>
              <a:ext cx="1068000" cy="106800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g271ae4fcaaf_0_201"/>
            <p:cNvSpPr/>
            <p:nvPr/>
          </p:nvSpPr>
          <p:spPr>
            <a:xfrm>
              <a:off x="11398114" y="986095"/>
              <a:ext cx="612900" cy="612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>
                  <a:alpha val="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g271ae4fcaaf_0_201"/>
            <p:cNvSpPr/>
            <p:nvPr/>
          </p:nvSpPr>
          <p:spPr>
            <a:xfrm>
              <a:off x="10829110" y="2159119"/>
              <a:ext cx="1750800" cy="181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g271ae4fcaaf_0_201"/>
            <p:cNvSpPr txBox="1"/>
            <p:nvPr/>
          </p:nvSpPr>
          <p:spPr>
            <a:xfrm>
              <a:off x="10829116" y="2159127"/>
              <a:ext cx="1750800" cy="28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CC4125"/>
                  </a:solidFill>
                  <a:latin typeface="Arial"/>
                  <a:ea typeface="Arial"/>
                  <a:cs typeface="Arial"/>
                  <a:sym typeface="Arial"/>
                </a:rPr>
                <a:t>VIGENCIA DE LA PROPUESTA:</a:t>
              </a:r>
              <a:endParaRPr b="1" i="0" sz="1400" u="none" cap="none" strike="noStrike">
                <a:solidFill>
                  <a:srgbClr val="CC412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MX" sz="1400" u="none" cap="none" strike="noStrike">
                  <a:solidFill>
                    <a:srgbClr val="CC4125"/>
                  </a:solidFill>
                  <a:latin typeface="Arial"/>
                  <a:ea typeface="Arial"/>
                  <a:cs typeface="Arial"/>
                  <a:sym typeface="Arial"/>
                </a:rPr>
                <a:t>15 DÍAS</a:t>
              </a:r>
              <a:endParaRPr b="1" i="0" sz="1400" u="none" cap="none" strike="noStrike">
                <a:solidFill>
                  <a:srgbClr val="CC41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3" name="Google Shape;413;g271ae4fcaaf_0_201"/>
          <p:cNvGrpSpPr/>
          <p:nvPr/>
        </p:nvGrpSpPr>
        <p:grpSpPr>
          <a:xfrm>
            <a:off x="210184" y="1194122"/>
            <a:ext cx="12584648" cy="1104881"/>
            <a:chOff x="0" y="1197160"/>
            <a:chExt cx="13004700" cy="1337790"/>
          </a:xfrm>
        </p:grpSpPr>
        <p:sp>
          <p:nvSpPr>
            <p:cNvPr id="414" name="Google Shape;414;g271ae4fcaaf_0_201"/>
            <p:cNvSpPr/>
            <p:nvPr/>
          </p:nvSpPr>
          <p:spPr>
            <a:xfrm>
              <a:off x="0" y="1197160"/>
              <a:ext cx="13004700" cy="1215600"/>
            </a:xfrm>
            <a:prstGeom prst="rect">
              <a:avLst/>
            </a:prstGeom>
            <a:solidFill>
              <a:srgbClr val="17365D"/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271ae4fcaaf_0_201"/>
            <p:cNvSpPr txBox="1"/>
            <p:nvPr/>
          </p:nvSpPr>
          <p:spPr>
            <a:xfrm>
              <a:off x="300689" y="1231450"/>
              <a:ext cx="11240700" cy="130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 fontScale="92500" lnSpcReduction="20000"/>
            </a:bodyPr>
            <a:lstStyle/>
            <a:p>
              <a:pPr indent="0" lvl="0" marL="127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8108"/>
                <a:buFont typeface="Arial"/>
                <a:buNone/>
              </a:pPr>
              <a:r>
                <a:rPr b="1" i="0" lang="es-MX" sz="2800" u="none" cap="none" strike="noStrike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Las Letras Chiquitas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12700" marR="0" rtl="0"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Pct val="108108"/>
                <a:buFont typeface="Arial"/>
                <a:buNone/>
              </a:pPr>
              <a:r>
                <a:rPr b="1" i="0" lang="es-MX" sz="2800" u="none" cap="none" strike="noStrike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que hacemos </a:t>
              </a:r>
              <a:r>
                <a:rPr b="1" i="0" lang="es-MX" sz="5200" u="none" cap="none" strike="noStrike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GRANDOTAS</a:t>
              </a:r>
              <a:endParaRPr b="1" i="0" sz="52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green text with green arrow&#10;&#10;Description automatically generated" id="420" name="Google Shape;42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6574" y="1444260"/>
            <a:ext cx="5621927" cy="2459594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2"/>
          <p:cNvSpPr txBox="1"/>
          <p:nvPr/>
        </p:nvSpPr>
        <p:spPr>
          <a:xfrm>
            <a:off x="1" y="3617411"/>
            <a:ext cx="13004800" cy="19036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1" i="0" lang="es-MX" sz="8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9555480" y="137160"/>
            <a:ext cx="3314700" cy="113156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251633" y="6718488"/>
            <a:ext cx="3246120" cy="69949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5252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5252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2022-02-24T00:05:31Z</dcterms:created>
  <dc:creator>Ricardo Valdes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2022-02-23T00:00:00Z</vt:filetime>
  </property>
  <property fmtid="{D5CDD505-2E9C-101B-9397-08002B2CF9AE}" pid="3" name="Creator">
    <vt:lpwstr>Adobe InDesign CS6 (Windows)</vt:lpwstr>
  </property>
  <property fmtid="{D5CDD505-2E9C-101B-9397-08002B2CF9AE}" pid="4" name="LastSaved">
    <vt:filetime>2022-02-24T00:00:00Z</vt:filetime>
  </property>
</Properties>
</file>